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68ced93-ef8a-c811-8425-34efe16a359d}">
          <p14:sldIdLst>
            <p14:sldId id="256"/>
          </p14:sldIdLst>
        </p14:section>
        <p14:section name="Problem &amp; Requirements" id="{892225e7-3026-7b77-af62-961a50f13def}">
          <p14:sldIdLst>
            <p14:sldId id="257"/>
            <p14:sldId id="258"/>
          </p14:sldIdLst>
        </p14:section>
        <p14:section name="Architecture" id="{edfc2ee3-d755-8c0e-bdce-cbd68fea1de9}">
          <p14:sldIdLst>
            <p14:sldId id="259"/>
          </p14:sldIdLst>
        </p14:section>
        <p14:section name="Critical Design" id="{2c7495be-b8a1-b396-576a-40a3205646bb}">
          <p14:sldIdLst>
            <p14:sldId id="260"/>
            <p14:sldId id="261"/>
            <p14:sldId id="262"/>
          </p14:sldIdLst>
        </p14:section>
        <p14:section name="Payment &amp; Order" id="{8d9823fe-0746-8907-1111-196b2a7e7af1}">
          <p14:sldIdLst>
            <p14:sldId id="263"/>
            <p14:sldId id="264"/>
          </p14:sldIdLst>
        </p14:section>
        <p14:section name="LLD &amp; Quality" id="{63f9b603-21f7-98ee-9c04-df5c35c42b46}">
          <p14:sldIdLst>
            <p14:sldId id="265"/>
            <p14:sldId id="266"/>
          </p14:sldIdLst>
        </p14:section>
        <p14:section name="Closing" id="{acdb81c2-283d-2750-77b4-e2f88274cf32}">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(10s). We are the architecture team for SALESTORM. Our claim: when 10,000 customers compete for 100 units, every transaction stays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(30s). Read-heavy, contention-heavy, write-light: 99% of buyers must hear 'sold out' fast and cheaply; the 100 winners must be processed perfectly. The three failures on screen are what we design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Requirements (30s). We split the brief into guarantees, which the architecture makes impossible to violate, and targets, which we measure. Everything that follows serves the left-hand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HLD (60s). Walk left to right. Solid arrows are synchronous, the user waits. Dotted arrows are Kafka events, retried and idempotent. The yellow box is the only place inventory contention is controlled. Services are stateless on Kubernetes across 3 AZs and pre-scaled 30 minutes before the sale; state lives only in Redis, PostgreSQL and Kafka.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design (part 1, 25s). Each layer removes load: the DB hot row is touched only about 100 times, so it is never the bottleneck. 2% duplicates are answered from the idempotency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design (part 2, 25s). Answer to 'where exactly is consistency guaranteed': the conditional UPDATE inside the reservation transaction, backed by the CHECK constraint. Redis only decides who may try. If DB fails after Redis said OK we compensate Redis; a StockReconciler resyncs every 10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jury slide. Optimistic locking is wrong under extreme contention because nearly every request loses the version race. Pessimistic locking is correct but forms a lock convoy. We combine the two fastest correct primitives.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Payment (25s). Four rows of the brief's table, four defined responses. Key line: after a timeout we never assume failure and never charge again; we query status with the same merchant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(20s). The transactional outbox removes the dual-write problem, Kafka holds the event while the Order Service is down, and idempotent consumers make redelivery safe. If an order truly cannot be confirmed, we compensate with a refund.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LLD (45s). Point at one example: ReservationService depends only on interfaces, so the Redis gate can be swapped for an in-memory fake in tests (DIP + LSP). Full class, sequence and state diagrams are in 03_LLD.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Scalability &amp; reliability (30s). Name the bottleneck: the hot inventory key. Stock bucketing spreads it. Observability: alert P1 on any inventory invariant violation, payment failure spike, Kafka lag or paid-not-confirmed orders.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jury question. Use this as the walk-through script. Steps 3 and 4 (amber) are where correctness is decided.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We accept brief reservation pauses during DB failover, a few seconds of 'confirming order', and two stores to reconcile, in exchange for never overselling and never losing a paid order. Full deliverables and 12 ADRs are in the submission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46304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731520" y="3383280"/>
            <a:ext cx="10698480" cy="1097280"/>
          </a:xfrm>
          <a:prstGeom prst="rect">
            <a:avLst/>
          </a:prstGeom>
          <a:noFill/>
          <a:ln/>
        </p:spPr>
        <p:txBody>
          <a:bodyPr wrap="square" rtlCol="0"/>
          <a:lstStyle>
            <a:lvl1pPr algn="l" indent="0" marL="0">
              <a:buNone/>
              <a:defRPr lang="en-US" sz="2200" dirty="0">
                <a:solidFill>
                  <a:schemeClr val="accent1"/>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SALESTORM  ·  SYSCRAFTERS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463040"/>
          </a:xfrm>
          <a:prstGeom prst="rect">
            <a:avLst/>
          </a:prstGeom>
          <a:noFill/>
          <a:ln/>
        </p:spPr>
        <p:txBody>
          <a:bodyPr wrap="square" lIns="0" tIns="0" rIns="0" bIns="0" rtlCol="0" anchor="ctr"/>
          <a:lstStyle/>
          <a:p>
            <a:pPr algn="l" indent="0" marL="0">
              <a:buNone/>
            </a:pPr>
            <a:r>
              <a:rPr lang="en-US" sz="4800" b="1" dirty="0">
                <a:solidFill>
                  <a:schemeClr val="bg1"/>
                </a:solidFill>
              </a:rPr>
              <a:t>SALESTORM</a:t>
            </a:r>
            <a:endParaRPr lang="en-US" sz="4800" dirty="0"/>
          </a:p>
        </p:txBody>
      </p:sp>
      <p:sp>
        <p:nvSpPr>
          <p:cNvPr id="3" name="Text 0"/>
          <p:cNvSpPr/>
          <p:nvPr>
            <p:ph idx="101" type="body" hasCustomPrompt="1"/>
          </p:nvPr>
        </p:nvSpPr>
        <p:spPr>
          <a:xfrm>
            <a:off x="731520" y="3383280"/>
            <a:ext cx="10698480" cy="1097280"/>
          </a:xfrm>
          <a:prstGeom prst="rect">
            <a:avLst/>
          </a:prstGeom>
          <a:noFill/>
          <a:ln/>
        </p:spPr>
        <p:txBody>
          <a:bodyPr wrap="square" lIns="0" tIns="0" rIns="0" bIns="0" rtlCol="0" anchor="t"/>
          <a:lstStyle/>
          <a:p>
            <a:pPr algn="l" indent="0" marL="0">
              <a:buNone/>
            </a:pPr>
            <a:r>
              <a:rPr lang="en-US" sz="2200" dirty="0">
                <a:solidFill>
                  <a:schemeClr val="accent1"/>
                </a:solidFill>
              </a:rPr>
              <a:t>10,000 buyers. 100 units. Zero oversold, zero double-charged, zero lost orders.</a:t>
            </a:r>
            <a:endParaRPr lang="en-US" sz="2200" dirty="0"/>
          </a:p>
        </p:txBody>
      </p:sp>
      <p:sp>
        <p:nvSpPr>
          <p:cNvPr id="4" name="text_1"/>
          <p:cNvSpPr txBox="1"/>
          <p:nvPr/>
        </p:nvSpPr>
        <p:spPr>
          <a:xfrm>
            <a:off x="731520" y="5120640"/>
            <a:ext cx="10698480" cy="457200"/>
          </a:xfrm>
          <a:prstGeom prst="rect">
            <a:avLst/>
          </a:prstGeom>
          <a:noFill/>
          <a:ln/>
        </p:spPr>
        <p:txBody>
          <a:bodyPr wrap="square" lIns="0" tIns="0" rIns="0" bIns="0" rtlCol="0" anchor="t"/>
          <a:lstStyle/>
          <a:p>
            <a:pPr indent="0" marL="0">
              <a:buNone/>
            </a:pPr>
            <a:r>
              <a:rPr lang="en-US" sz="1600" dirty="0">
                <a:solidFill>
                  <a:schemeClr val="bg2"/>
                </a:solidFill>
              </a:rPr>
              <a:t>High-scale flash-sale system design  ·  SYSCRAFTERS 2026 Design-First Hackathon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rPr>
              <a:t>10,000 buyers race for 100 units in a few seconds</a:t>
            </a:r>
            <a:endParaRPr lang="en-US" sz="3200" dirty="0"/>
          </a:p>
        </p:txBody>
      </p:sp>
      <p:sp>
        <p:nvSpPr>
          <p:cNvPr id="3" name="card_2"/>
          <p:cNvSpPr/>
          <p:nvPr/>
        </p:nvSpPr>
        <p:spPr>
          <a:xfrm>
            <a:off x="548640" y="1417320"/>
            <a:ext cx="3474720" cy="2103120"/>
          </a:xfrm>
          <a:prstGeom prst="roundRect">
            <a:avLst>
              <a:gd name="adj" fmla="val 5217"/>
            </a:avLst>
          </a:prstGeom>
          <a:solidFill>
            <a:schemeClr val="bg2"/>
          </a:solidFill>
          <a:ln w="12700">
            <a:solidFill>
              <a:schemeClr val="bg2"/>
            </a:solidFill>
            <a:prstDash val="solid"/>
          </a:ln>
        </p:spPr>
      </p:sp>
      <p:sp>
        <p:nvSpPr>
          <p:cNvPr id="4" name="text_3"/>
          <p:cNvSpPr txBox="1"/>
          <p:nvPr/>
        </p:nvSpPr>
        <p:spPr>
          <a:xfrm>
            <a:off x="822960" y="1645920"/>
            <a:ext cx="2926080" cy="1005840"/>
          </a:xfrm>
          <a:prstGeom prst="rect">
            <a:avLst/>
          </a:prstGeom>
          <a:noFill/>
          <a:ln/>
        </p:spPr>
        <p:txBody>
          <a:bodyPr wrap="square" lIns="0" tIns="0" rIns="0" bIns="0" rtlCol="0" anchor="t"/>
          <a:lstStyle/>
          <a:p>
            <a:pPr indent="0" marL="0">
              <a:buNone/>
            </a:pPr>
            <a:r>
              <a:rPr lang="en-US" sz="6000" b="1" dirty="0">
                <a:solidFill>
                  <a:schemeClr val="tx2"/>
                </a:solidFill>
                <a:latin typeface="Arial" pitchFamily="34" charset="0"/>
                <a:ea typeface="Arial" pitchFamily="34" charset="-122"/>
                <a:cs typeface="Arial" pitchFamily="34" charset="-120"/>
              </a:rPr>
              <a:t>10,000</a:t>
            </a:r>
            <a:endParaRPr lang="en-US" sz="6000" dirty="0"/>
          </a:p>
        </p:txBody>
      </p:sp>
      <p:sp>
        <p:nvSpPr>
          <p:cNvPr id="5" name="text_4"/>
          <p:cNvSpPr txBox="1"/>
          <p:nvPr/>
        </p:nvSpPr>
        <p:spPr>
          <a:xfrm>
            <a:off x="822960" y="2697480"/>
            <a:ext cx="2926080" cy="640080"/>
          </a:xfrm>
          <a:prstGeom prst="rect">
            <a:avLst/>
          </a:prstGeom>
          <a:noFill/>
          <a:ln/>
        </p:spPr>
        <p:txBody>
          <a:bodyPr wrap="square" lIns="0" tIns="0" rIns="0" bIns="0" rtlCol="0" anchor="t"/>
          <a:lstStyle/>
          <a:p>
            <a:pPr indent="0" marL="0">
              <a:buNone/>
            </a:pPr>
            <a:r>
              <a:rPr lang="en-US" sz="1600" dirty="0">
                <a:solidFill>
                  <a:schemeClr val="tx1"/>
                </a:solidFill>
              </a:rPr>
              <a:t>simultaneous “Buy Now” clicks</a:t>
            </a:r>
            <a:endParaRPr lang="en-US" sz="1600" dirty="0"/>
          </a:p>
        </p:txBody>
      </p:sp>
      <p:sp>
        <p:nvSpPr>
          <p:cNvPr id="6" name="card_5"/>
          <p:cNvSpPr/>
          <p:nvPr/>
        </p:nvSpPr>
        <p:spPr>
          <a:xfrm>
            <a:off x="4297680" y="1417320"/>
            <a:ext cx="3474720" cy="2103120"/>
          </a:xfrm>
          <a:prstGeom prst="roundRect">
            <a:avLst>
              <a:gd name="adj" fmla="val 5217"/>
            </a:avLst>
          </a:prstGeom>
          <a:solidFill>
            <a:schemeClr val="bg2"/>
          </a:solidFill>
          <a:ln w="12700">
            <a:solidFill>
              <a:schemeClr val="bg2"/>
            </a:solidFill>
            <a:prstDash val="solid"/>
          </a:ln>
        </p:spPr>
      </p:sp>
      <p:sp>
        <p:nvSpPr>
          <p:cNvPr id="7" name="text_6"/>
          <p:cNvSpPr txBox="1"/>
          <p:nvPr/>
        </p:nvSpPr>
        <p:spPr>
          <a:xfrm>
            <a:off x="4572000" y="1645920"/>
            <a:ext cx="2926080" cy="1005840"/>
          </a:xfrm>
          <a:prstGeom prst="rect">
            <a:avLst/>
          </a:prstGeom>
          <a:noFill/>
          <a:ln/>
        </p:spPr>
        <p:txBody>
          <a:bodyPr wrap="square" lIns="0" tIns="0" rIns="0" bIns="0" rtlCol="0" anchor="t"/>
          <a:lstStyle/>
          <a:p>
            <a:pPr indent="0" marL="0">
              <a:buNone/>
            </a:pPr>
            <a:r>
              <a:rPr lang="en-US" sz="6000" b="1" dirty="0">
                <a:solidFill>
                  <a:schemeClr val="accent2"/>
                </a:solidFill>
                <a:latin typeface="Arial" pitchFamily="34" charset="0"/>
                <a:ea typeface="Arial" pitchFamily="34" charset="-122"/>
                <a:cs typeface="Arial" pitchFamily="34" charset="-120"/>
              </a:rPr>
              <a:t>100</a:t>
            </a:r>
            <a:endParaRPr lang="en-US" sz="6000" dirty="0"/>
          </a:p>
        </p:txBody>
      </p:sp>
      <p:sp>
        <p:nvSpPr>
          <p:cNvPr id="8" name="text_7"/>
          <p:cNvSpPr txBox="1"/>
          <p:nvPr/>
        </p:nvSpPr>
        <p:spPr>
          <a:xfrm>
            <a:off x="4572000" y="2697480"/>
            <a:ext cx="2926080" cy="640080"/>
          </a:xfrm>
          <a:prstGeom prst="rect">
            <a:avLst/>
          </a:prstGeom>
          <a:noFill/>
          <a:ln/>
        </p:spPr>
        <p:txBody>
          <a:bodyPr wrap="square" lIns="0" tIns="0" rIns="0" bIns="0" rtlCol="0" anchor="t"/>
          <a:lstStyle/>
          <a:p>
            <a:pPr indent="0" marL="0">
              <a:buNone/>
            </a:pPr>
            <a:r>
              <a:rPr lang="en-US" sz="1600" dirty="0">
                <a:solidFill>
                  <a:schemeClr val="tx1"/>
                </a:solidFill>
              </a:rPr>
              <a:t>units of Product X in stock</a:t>
            </a:r>
            <a:endParaRPr lang="en-US" sz="1600" dirty="0"/>
          </a:p>
        </p:txBody>
      </p:sp>
      <p:sp>
        <p:nvSpPr>
          <p:cNvPr id="9" name="card_8"/>
          <p:cNvSpPr/>
          <p:nvPr/>
        </p:nvSpPr>
        <p:spPr>
          <a:xfrm>
            <a:off x="8046720" y="1417320"/>
            <a:ext cx="3474720" cy="2103120"/>
          </a:xfrm>
          <a:prstGeom prst="roundRect">
            <a:avLst>
              <a:gd name="adj" fmla="val 5217"/>
            </a:avLst>
          </a:prstGeom>
          <a:solidFill>
            <a:schemeClr val="bg2"/>
          </a:solidFill>
          <a:ln w="12700">
            <a:solidFill>
              <a:schemeClr val="bg2"/>
            </a:solidFill>
            <a:prstDash val="solid"/>
          </a:ln>
        </p:spPr>
      </p:sp>
      <p:sp>
        <p:nvSpPr>
          <p:cNvPr id="10" name="text_9"/>
          <p:cNvSpPr txBox="1"/>
          <p:nvPr/>
        </p:nvSpPr>
        <p:spPr>
          <a:xfrm>
            <a:off x="8321040" y="1645920"/>
            <a:ext cx="2926080" cy="1005840"/>
          </a:xfrm>
          <a:prstGeom prst="rect">
            <a:avLst/>
          </a:prstGeom>
          <a:noFill/>
          <a:ln/>
        </p:spPr>
        <p:txBody>
          <a:bodyPr wrap="square" lIns="0" tIns="0" rIns="0" bIns="0" rtlCol="0" anchor="t"/>
          <a:lstStyle/>
          <a:p>
            <a:pPr indent="0" marL="0">
              <a:buNone/>
            </a:pPr>
            <a:r>
              <a:rPr lang="en-US" sz="6000" b="1" dirty="0">
                <a:solidFill>
                  <a:schemeClr val="accent4"/>
                </a:solidFill>
                <a:latin typeface="Arial" pitchFamily="34" charset="0"/>
                <a:ea typeface="Arial" pitchFamily="34" charset="-122"/>
                <a:cs typeface="Arial" pitchFamily="34" charset="-120"/>
              </a:rPr>
              <a:t>500k/s</a:t>
            </a:r>
            <a:endParaRPr lang="en-US" sz="6000" dirty="0"/>
          </a:p>
        </p:txBody>
      </p:sp>
      <p:sp>
        <p:nvSpPr>
          <p:cNvPr id="11" name="text_10"/>
          <p:cNvSpPr txBox="1"/>
          <p:nvPr/>
        </p:nvSpPr>
        <p:spPr>
          <a:xfrm>
            <a:off x="8321040" y="2697480"/>
            <a:ext cx="2926080" cy="640080"/>
          </a:xfrm>
          <a:prstGeom prst="rect">
            <a:avLst/>
          </a:prstGeom>
          <a:noFill/>
          <a:ln/>
        </p:spPr>
        <p:txBody>
          <a:bodyPr wrap="square" lIns="0" tIns="0" rIns="0" bIns="0" rtlCol="0" anchor="t"/>
          <a:lstStyle/>
          <a:p>
            <a:pPr indent="0" marL="0">
              <a:buNone/>
            </a:pPr>
            <a:r>
              <a:rPr lang="en-US" sz="1600" dirty="0">
                <a:solidFill>
                  <a:schemeClr val="tx1"/>
                </a:solidFill>
              </a:rPr>
              <a:t>peak requests we design for (50×)</a:t>
            </a:r>
            <a:endParaRPr lang="en-US" sz="1600" dirty="0"/>
          </a:p>
        </p:txBody>
      </p:sp>
      <p:sp>
        <p:nvSpPr>
          <p:cNvPr id="12" name="text_11"/>
          <p:cNvSpPr txBox="1"/>
          <p:nvPr/>
        </p:nvSpPr>
        <p:spPr>
          <a:xfrm>
            <a:off x="548640" y="3840480"/>
            <a:ext cx="5486400" cy="411480"/>
          </a:xfrm>
          <a:prstGeom prst="rect">
            <a:avLst/>
          </a:prstGeom>
          <a:noFill/>
          <a:ln/>
        </p:spPr>
        <p:txBody>
          <a:bodyPr wrap="square" lIns="0" tIns="0" rIns="0" bIns="0" rtlCol="0" anchor="t"/>
          <a:lstStyle/>
          <a:p>
            <a:pPr indent="0" marL="0">
              <a:buNone/>
            </a:pPr>
            <a:r>
              <a:rPr lang="en-US" sz="2000" b="1" dirty="0">
                <a:solidFill>
                  <a:schemeClr val="tx2"/>
                </a:solidFill>
              </a:rPr>
              <a:t>What must never happen</a:t>
            </a:r>
            <a:endParaRPr lang="en-US" sz="2000" dirty="0"/>
          </a:p>
        </p:txBody>
      </p:sp>
      <p:sp>
        <p:nvSpPr>
          <p:cNvPr id="13" name="badge_12"/>
          <p:cNvSpPr/>
          <p:nvPr/>
        </p:nvSpPr>
        <p:spPr>
          <a:xfrm>
            <a:off x="548640" y="4434840"/>
            <a:ext cx="457200" cy="457200"/>
          </a:xfrm>
          <a:prstGeom prst="ellipse">
            <a:avLst/>
          </a:prstGeom>
          <a:solidFill>
            <a:schemeClr val="accent2"/>
          </a:solidFill>
          <a:ln w="12700">
            <a:solidFill>
              <a:schemeClr val="accent2"/>
            </a:solidFill>
            <a:prstDash val="solid"/>
          </a:ln>
        </p:spPr>
      </p:sp>
      <p:sp>
        <p:nvSpPr>
          <p:cNvPr id="14" name="badgeText_13"/>
          <p:cNvSpPr txBox="1"/>
          <p:nvPr/>
        </p:nvSpPr>
        <p:spPr>
          <a:xfrm>
            <a:off x="548640" y="44348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5" name="text_14"/>
          <p:cNvSpPr txBox="1"/>
          <p:nvPr/>
        </p:nvSpPr>
        <p:spPr>
          <a:xfrm>
            <a:off x="1143000" y="4389120"/>
            <a:ext cx="3017520" cy="365760"/>
          </a:xfrm>
          <a:prstGeom prst="rect">
            <a:avLst/>
          </a:prstGeom>
          <a:noFill/>
          <a:ln/>
        </p:spPr>
        <p:txBody>
          <a:bodyPr wrap="square" lIns="0" tIns="0" rIns="0" bIns="0" rtlCol="0" anchor="t"/>
          <a:lstStyle/>
          <a:p>
            <a:pPr indent="0" marL="0">
              <a:buNone/>
            </a:pPr>
            <a:r>
              <a:rPr lang="en-US" sz="1700" b="1" dirty="0">
                <a:solidFill>
                  <a:schemeClr val="tx1"/>
                </a:solidFill>
              </a:rPr>
              <a:t>Overselling</a:t>
            </a:r>
            <a:endParaRPr lang="en-US" sz="1700" dirty="0"/>
          </a:p>
        </p:txBody>
      </p:sp>
      <p:sp>
        <p:nvSpPr>
          <p:cNvPr id="16" name="text_15"/>
          <p:cNvSpPr txBox="1"/>
          <p:nvPr/>
        </p:nvSpPr>
        <p:spPr>
          <a:xfrm>
            <a:off x="1143000" y="4754880"/>
            <a:ext cx="3017520" cy="731520"/>
          </a:xfrm>
          <a:prstGeom prst="rect">
            <a:avLst/>
          </a:prstGeom>
          <a:noFill/>
          <a:ln/>
        </p:spPr>
        <p:txBody>
          <a:bodyPr wrap="square" lIns="0" tIns="0" rIns="0" bIns="0" rtlCol="0" anchor="t"/>
          <a:lstStyle/>
          <a:p>
            <a:pPr indent="0" marL="0">
              <a:buNone/>
            </a:pPr>
            <a:r>
              <a:rPr lang="en-US" sz="1400" dirty="0">
                <a:solidFill>
                  <a:schemeClr val="tx1"/>
                </a:solidFill>
              </a:rPr>
              <a:t>101st unit sold, or stock goes negative</a:t>
            </a:r>
            <a:endParaRPr lang="en-US" sz="1400" dirty="0"/>
          </a:p>
        </p:txBody>
      </p:sp>
      <p:sp>
        <p:nvSpPr>
          <p:cNvPr id="17" name="badge_16"/>
          <p:cNvSpPr/>
          <p:nvPr/>
        </p:nvSpPr>
        <p:spPr>
          <a:xfrm>
            <a:off x="4297680" y="4434840"/>
            <a:ext cx="457200" cy="457200"/>
          </a:xfrm>
          <a:prstGeom prst="ellipse">
            <a:avLst/>
          </a:prstGeom>
          <a:solidFill>
            <a:schemeClr val="accent2"/>
          </a:solidFill>
          <a:ln w="12700">
            <a:solidFill>
              <a:schemeClr val="accent2"/>
            </a:solidFill>
            <a:prstDash val="solid"/>
          </a:ln>
        </p:spPr>
      </p:sp>
      <p:sp>
        <p:nvSpPr>
          <p:cNvPr id="18" name="badgeText_17"/>
          <p:cNvSpPr txBox="1"/>
          <p:nvPr/>
        </p:nvSpPr>
        <p:spPr>
          <a:xfrm>
            <a:off x="4297680" y="44348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9" name="text_18"/>
          <p:cNvSpPr txBox="1"/>
          <p:nvPr/>
        </p:nvSpPr>
        <p:spPr>
          <a:xfrm>
            <a:off x="4892040" y="4389120"/>
            <a:ext cx="3017520" cy="365760"/>
          </a:xfrm>
          <a:prstGeom prst="rect">
            <a:avLst/>
          </a:prstGeom>
          <a:noFill/>
          <a:ln/>
        </p:spPr>
        <p:txBody>
          <a:bodyPr wrap="square" lIns="0" tIns="0" rIns="0" bIns="0" rtlCol="0" anchor="t"/>
          <a:lstStyle/>
          <a:p>
            <a:pPr indent="0" marL="0">
              <a:buNone/>
            </a:pPr>
            <a:r>
              <a:rPr lang="en-US" sz="1700" b="1" dirty="0">
                <a:solidFill>
                  <a:schemeClr val="tx1"/>
                </a:solidFill>
              </a:rPr>
              <a:t>Duplicate transactions</a:t>
            </a:r>
            <a:endParaRPr lang="en-US" sz="1700" dirty="0"/>
          </a:p>
        </p:txBody>
      </p:sp>
      <p:sp>
        <p:nvSpPr>
          <p:cNvPr id="20" name="text_19"/>
          <p:cNvSpPr txBox="1"/>
          <p:nvPr/>
        </p:nvSpPr>
        <p:spPr>
          <a:xfrm>
            <a:off x="4892040" y="4754880"/>
            <a:ext cx="3017520" cy="731520"/>
          </a:xfrm>
          <a:prstGeom prst="rect">
            <a:avLst/>
          </a:prstGeom>
          <a:noFill/>
          <a:ln/>
        </p:spPr>
        <p:txBody>
          <a:bodyPr wrap="square" lIns="0" tIns="0" rIns="0" bIns="0" rtlCol="0" anchor="t"/>
          <a:lstStyle/>
          <a:p>
            <a:pPr indent="0" marL="0">
              <a:buNone/>
            </a:pPr>
            <a:r>
              <a:rPr lang="en-US" sz="1400" dirty="0">
                <a:solidFill>
                  <a:schemeClr val="tx1"/>
                </a:solidFill>
              </a:rPr>
              <a:t>double reservation, double charge, double order</a:t>
            </a:r>
            <a:endParaRPr lang="en-US" sz="1400" dirty="0"/>
          </a:p>
        </p:txBody>
      </p:sp>
      <p:sp>
        <p:nvSpPr>
          <p:cNvPr id="21" name="badge_20"/>
          <p:cNvSpPr/>
          <p:nvPr/>
        </p:nvSpPr>
        <p:spPr>
          <a:xfrm>
            <a:off x="8046720" y="4434840"/>
            <a:ext cx="457200" cy="457200"/>
          </a:xfrm>
          <a:prstGeom prst="ellipse">
            <a:avLst/>
          </a:prstGeom>
          <a:solidFill>
            <a:schemeClr val="accent2"/>
          </a:solidFill>
          <a:ln w="12700">
            <a:solidFill>
              <a:schemeClr val="accent2"/>
            </a:solidFill>
            <a:prstDash val="solid"/>
          </a:ln>
        </p:spPr>
      </p:sp>
      <p:sp>
        <p:nvSpPr>
          <p:cNvPr id="22" name="badgeText_21"/>
          <p:cNvSpPr txBox="1"/>
          <p:nvPr/>
        </p:nvSpPr>
        <p:spPr>
          <a:xfrm>
            <a:off x="8046720" y="44348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23" name="text_22"/>
          <p:cNvSpPr txBox="1"/>
          <p:nvPr/>
        </p:nvSpPr>
        <p:spPr>
          <a:xfrm>
            <a:off x="8641080" y="4389120"/>
            <a:ext cx="3017520" cy="365760"/>
          </a:xfrm>
          <a:prstGeom prst="rect">
            <a:avLst/>
          </a:prstGeom>
          <a:noFill/>
          <a:ln/>
        </p:spPr>
        <p:txBody>
          <a:bodyPr wrap="square" lIns="0" tIns="0" rIns="0" bIns="0" rtlCol="0" anchor="t"/>
          <a:lstStyle/>
          <a:p>
            <a:pPr indent="0" marL="0">
              <a:buNone/>
            </a:pPr>
            <a:r>
              <a:rPr lang="en-US" sz="1700" b="1" dirty="0">
                <a:solidFill>
                  <a:schemeClr val="tx1"/>
                </a:solidFill>
              </a:rPr>
              <a:t>Lost orders</a:t>
            </a:r>
            <a:endParaRPr lang="en-US" sz="1700" dirty="0"/>
          </a:p>
        </p:txBody>
      </p:sp>
      <p:sp>
        <p:nvSpPr>
          <p:cNvPr id="24" name="text_23"/>
          <p:cNvSpPr txBox="1"/>
          <p:nvPr/>
        </p:nvSpPr>
        <p:spPr>
          <a:xfrm>
            <a:off x="8641080" y="4754880"/>
            <a:ext cx="3017520" cy="731520"/>
          </a:xfrm>
          <a:prstGeom prst="rect">
            <a:avLst/>
          </a:prstGeom>
          <a:noFill/>
          <a:ln/>
        </p:spPr>
        <p:txBody>
          <a:bodyPr wrap="square" lIns="0" tIns="0" rIns="0" bIns="0" rtlCol="0" anchor="t"/>
          <a:lstStyle/>
          <a:p>
            <a:pPr indent="0" marL="0">
              <a:buNone/>
            </a:pPr>
            <a:r>
              <a:rPr lang="en-US" sz="1400" dirty="0">
                <a:solidFill>
                  <a:schemeClr val="tx1"/>
                </a:solidFill>
              </a:rPr>
              <a:t>customer paid, but no order exists after a failure</a:t>
            </a:r>
            <a:endParaRPr lang="en-US" sz="1400" dirty="0"/>
          </a:p>
        </p:txBody>
      </p:sp>
      <p:sp>
        <p:nvSpPr>
          <p:cNvPr id="25" name="text_24"/>
          <p:cNvSpPr txBox="1"/>
          <p:nvPr/>
        </p:nvSpPr>
        <p:spPr>
          <a:xfrm>
            <a:off x="548640" y="5715000"/>
            <a:ext cx="11064240" cy="457200"/>
          </a:xfrm>
          <a:prstGeom prst="rect">
            <a:avLst/>
          </a:prstGeom>
          <a:noFill/>
          <a:ln/>
        </p:spPr>
        <p:txBody>
          <a:bodyPr wrap="square" lIns="0" tIns="0" rIns="0" bIns="0" rtlCol="0" anchor="t"/>
          <a:lstStyle/>
          <a:p>
            <a:pPr indent="0" marL="0">
              <a:buNone/>
            </a:pPr>
            <a:r>
              <a:rPr lang="en-US" sz="1300" i="1" dirty="0">
                <a:solidFill>
                  <a:schemeClr val="accent4"/>
                </a:solidFill>
              </a:rPr>
              <a:t>Pipeline: Discovery → Cart → Inventory Check → Reservation → Checkout → Payment → Order → Fulfilment → Shipment → Notification → Tracking</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rPr>
              <a:t>Strict guarantees vs measurable targets</a:t>
            </a:r>
            <a:endParaRPr lang="en-US" sz="3200" dirty="0"/>
          </a:p>
        </p:txBody>
      </p:sp>
      <p:sp>
        <p:nvSpPr>
          <p:cNvPr id="3" name="card_25"/>
          <p:cNvSpPr/>
          <p:nvPr/>
        </p:nvSpPr>
        <p:spPr>
          <a:xfrm>
            <a:off x="548640" y="1371600"/>
            <a:ext cx="5394960" cy="4114800"/>
          </a:xfrm>
          <a:prstGeom prst="roundRect">
            <a:avLst>
              <a:gd name="adj" fmla="val 2667"/>
            </a:avLst>
          </a:prstGeom>
          <a:solidFill>
            <a:schemeClr val="tx2"/>
          </a:solidFill>
          <a:ln w="12700">
            <a:solidFill>
              <a:schemeClr val="tx2"/>
            </a:solidFill>
            <a:prstDash val="solid"/>
          </a:ln>
        </p:spPr>
      </p:sp>
      <p:sp>
        <p:nvSpPr>
          <p:cNvPr id="4" name="text_26"/>
          <p:cNvSpPr txBox="1"/>
          <p:nvPr/>
        </p:nvSpPr>
        <p:spPr>
          <a:xfrm>
            <a:off x="822960" y="1600200"/>
            <a:ext cx="4937760" cy="457200"/>
          </a:xfrm>
          <a:prstGeom prst="rect">
            <a:avLst/>
          </a:prstGeom>
          <a:noFill/>
          <a:ln/>
        </p:spPr>
        <p:txBody>
          <a:bodyPr wrap="square" lIns="0" tIns="0" rIns="0" bIns="0" rtlCol="0" anchor="t"/>
          <a:lstStyle/>
          <a:p>
            <a:pPr indent="0" marL="0">
              <a:buNone/>
            </a:pPr>
            <a:r>
              <a:rPr lang="en-US" sz="2000" b="1" dirty="0">
                <a:solidFill>
                  <a:schemeClr val="accent1"/>
                </a:solidFill>
              </a:rPr>
              <a:t>Strict guarantees – never violated</a:t>
            </a:r>
            <a:endParaRPr lang="en-US" sz="2000" dirty="0"/>
          </a:p>
        </p:txBody>
      </p:sp>
      <p:sp>
        <p:nvSpPr>
          <p:cNvPr id="5" name="text_27"/>
          <p:cNvSpPr txBox="1"/>
          <p:nvPr/>
        </p:nvSpPr>
        <p:spPr>
          <a:xfrm>
            <a:off x="822960" y="2194560"/>
            <a:ext cx="4937760" cy="310896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bg1"/>
                </a:solidFill>
              </a:rPr>
              <a:t>0 oversells: sold ≤ 100, available ≥ 0</a:t>
            </a:r>
            <a:endParaRPr lang="en-US" sz="1600" dirty="0"/>
          </a:p>
          <a:p>
            <a:pPr marL="342900" indent="-342900">
              <a:spcAft>
                <a:spcPts val="600"/>
              </a:spcAft>
              <a:buSzPct val="100000"/>
              <a:buChar char="•"/>
            </a:pPr>
            <a:r>
              <a:rPr lang="en-US" sz="1600" dirty="0">
                <a:solidFill>
                  <a:schemeClr val="bg1"/>
                </a:solidFill>
              </a:rPr>
              <a:t>No duplicate reservation, payment or order per idempotency key</a:t>
            </a:r>
            <a:endParaRPr lang="en-US" sz="1600" dirty="0"/>
          </a:p>
          <a:p>
            <a:pPr marL="342900" indent="-342900">
              <a:spcAft>
                <a:spcPts val="600"/>
              </a:spcAft>
              <a:buSzPct val="100000"/>
              <a:buChar char="•"/>
            </a:pPr>
            <a:r>
              <a:rPr lang="en-US" sz="1600" dirty="0">
                <a:solidFill>
                  <a:schemeClr val="bg1"/>
                </a:solidFill>
              </a:rPr>
              <a:t>Every captured payment ends CONFIRMED or refunded</a:t>
            </a:r>
            <a:endParaRPr lang="en-US" sz="1600" dirty="0"/>
          </a:p>
          <a:p>
            <a:pPr marL="342900" indent="-342900">
              <a:spcAft>
                <a:spcPts val="600"/>
              </a:spcAft>
              <a:buSzPct val="100000"/>
              <a:buChar char="•"/>
            </a:pPr>
            <a:r>
              <a:rPr lang="en-US" sz="1600" dirty="0">
                <a:solidFill>
                  <a:schemeClr val="bg1"/>
                </a:solidFill>
              </a:rPr>
              <a:t>Strong consistency for inventory, payment, order rows</a:t>
            </a:r>
            <a:endParaRPr lang="en-US" sz="1600" dirty="0"/>
          </a:p>
          <a:p>
            <a:pPr marL="342900" indent="-342900">
              <a:spcAft>
                <a:spcPts val="600"/>
              </a:spcAft>
              <a:buSzPct val="100000"/>
              <a:buChar char="•"/>
            </a:pPr>
            <a:r>
              <a:rPr lang="en-US" sz="1600" dirty="0">
                <a:solidFill>
                  <a:schemeClr val="bg1"/>
                </a:solidFill>
              </a:rPr>
              <a:t>Card data never stored (PCI scope minimised)</a:t>
            </a:r>
            <a:endParaRPr lang="en-US" sz="1600" dirty="0"/>
          </a:p>
        </p:txBody>
      </p:sp>
      <p:sp>
        <p:nvSpPr>
          <p:cNvPr id="6" name="card_28"/>
          <p:cNvSpPr/>
          <p:nvPr/>
        </p:nvSpPr>
        <p:spPr>
          <a:xfrm>
            <a:off x="6263640" y="1371600"/>
            <a:ext cx="5349240" cy="4114800"/>
          </a:xfrm>
          <a:prstGeom prst="roundRect">
            <a:avLst>
              <a:gd name="adj" fmla="val 2667"/>
            </a:avLst>
          </a:prstGeom>
          <a:solidFill>
            <a:schemeClr val="bg2"/>
          </a:solidFill>
          <a:ln w="12700">
            <a:solidFill>
              <a:schemeClr val="bg2"/>
            </a:solidFill>
            <a:prstDash val="solid"/>
          </a:ln>
        </p:spPr>
      </p:sp>
      <p:sp>
        <p:nvSpPr>
          <p:cNvPr id="7" name="text_29"/>
          <p:cNvSpPr txBox="1"/>
          <p:nvPr/>
        </p:nvSpPr>
        <p:spPr>
          <a:xfrm>
            <a:off x="6537960" y="1600200"/>
            <a:ext cx="4846320" cy="457200"/>
          </a:xfrm>
          <a:prstGeom prst="rect">
            <a:avLst/>
          </a:prstGeom>
          <a:noFill/>
          <a:ln/>
        </p:spPr>
        <p:txBody>
          <a:bodyPr wrap="square" lIns="0" tIns="0" rIns="0" bIns="0" rtlCol="0" anchor="t"/>
          <a:lstStyle/>
          <a:p>
            <a:pPr indent="0" marL="0">
              <a:buNone/>
            </a:pPr>
            <a:r>
              <a:rPr lang="en-US" sz="2000" b="1" dirty="0">
                <a:solidFill>
                  <a:schemeClr val="tx2"/>
                </a:solidFill>
              </a:rPr>
              <a:t>Targets – measured and alerted</a:t>
            </a:r>
            <a:endParaRPr lang="en-US" sz="2000" dirty="0"/>
          </a:p>
        </p:txBody>
      </p:sp>
      <p:sp>
        <p:nvSpPr>
          <p:cNvPr id="8" name="text_30"/>
          <p:cNvSpPr txBox="1"/>
          <p:nvPr/>
        </p:nvSpPr>
        <p:spPr>
          <a:xfrm>
            <a:off x="6537960" y="2194560"/>
            <a:ext cx="4846320" cy="310896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Reserve API p99 &lt; 200 ms; sold-out reply p99 &lt; 50 ms</a:t>
            </a:r>
            <a:endParaRPr lang="en-US" sz="1600" dirty="0"/>
          </a:p>
          <a:p>
            <a:pPr marL="342900" indent="-342900">
              <a:spcAft>
                <a:spcPts val="600"/>
              </a:spcAft>
              <a:buSzPct val="100000"/>
              <a:buChar char="•"/>
            </a:pPr>
            <a:r>
              <a:rPr lang="en-US" sz="1600" dirty="0">
                <a:solidFill>
                  <a:schemeClr val="tx1"/>
                </a:solidFill>
              </a:rPr>
              <a:t>Absorb 500k req/s at the edge, 20k reserve attempts/s</a:t>
            </a:r>
            <a:endParaRPr lang="en-US" sz="1600" dirty="0"/>
          </a:p>
          <a:p>
            <a:pPr marL="342900" indent="-342900">
              <a:spcAft>
                <a:spcPts val="600"/>
              </a:spcAft>
              <a:buSzPct val="100000"/>
              <a:buChar char="•"/>
            </a:pPr>
            <a:r>
              <a:rPr lang="en-US" sz="1600" dirty="0">
                <a:solidFill>
                  <a:schemeClr val="tx1"/>
                </a:solidFill>
              </a:rPr>
              <a:t>99.95% availability for reserve, checkout, payment</a:t>
            </a:r>
            <a:endParaRPr lang="en-US" sz="1600" dirty="0"/>
          </a:p>
          <a:p>
            <a:pPr marL="342900" indent="-342900">
              <a:spcAft>
                <a:spcPts val="600"/>
              </a:spcAft>
              <a:buSzPct val="100000"/>
              <a:buChar char="•"/>
            </a:pPr>
            <a:r>
              <a:rPr lang="en-US" sz="1600" dirty="0">
                <a:solidFill>
                  <a:schemeClr val="tx1"/>
                </a:solidFill>
              </a:rPr>
              <a:t>Expired holds released within 30 s</a:t>
            </a:r>
            <a:endParaRPr lang="en-US" sz="1600" dirty="0"/>
          </a:p>
          <a:p>
            <a:pPr marL="342900" indent="-342900">
              <a:spcAft>
                <a:spcPts val="600"/>
              </a:spcAft>
              <a:buSzPct val="100000"/>
              <a:buChar char="•"/>
            </a:pPr>
            <a:r>
              <a:rPr lang="en-US" sz="1600" dirty="0">
                <a:solidFill>
                  <a:schemeClr val="tx1"/>
                </a:solidFill>
              </a:rPr>
              <a:t>RPO 0 for payments/orders, RTO &lt; 5 min</a:t>
            </a:r>
            <a:endParaRPr lang="en-US" sz="1600" dirty="0"/>
          </a:p>
        </p:txBody>
      </p:sp>
      <p:sp>
        <p:nvSpPr>
          <p:cNvPr id="9" name="text_31"/>
          <p:cNvSpPr txBox="1"/>
          <p:nvPr/>
        </p:nvSpPr>
        <p:spPr>
          <a:xfrm>
            <a:off x="548640" y="5715000"/>
            <a:ext cx="11064240" cy="457200"/>
          </a:xfrm>
          <a:prstGeom prst="rect">
            <a:avLst/>
          </a:prstGeom>
          <a:noFill/>
          <a:ln/>
        </p:spPr>
        <p:txBody>
          <a:bodyPr wrap="square" lIns="0" tIns="0" rIns="0" bIns="0" rtlCol="0" anchor="t"/>
          <a:lstStyle/>
          <a:p>
            <a:pPr indent="0" marL="0">
              <a:buNone/>
            </a:pPr>
            <a:r>
              <a:rPr lang="en-US" sz="1300" i="1" dirty="0">
                <a:solidFill>
                  <a:schemeClr val="accent4"/>
                </a:solidFill>
              </a:rPr>
              <a:t>Assumptions: login required · 1 unit per customer · 10-minute hold · 95% payment success, 5% failure, 2% duplicates · Order Service may be down 30 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rPr>
              <a:t>Filter at the edge, serialise in one place, recover async</a:t>
            </a:r>
            <a:endParaRPr lang="en-US" sz="3200" dirty="0"/>
          </a:p>
        </p:txBody>
      </p:sp>
      <p:pic>
        <p:nvPicPr>
          <p:cNvPr id="3" name="hld_32" descr="SALESTORM high-level architecture diagram">    </p:cNvPr>
          <p:cNvPicPr>
            <a:picLocks noChangeAspect="1"/>
          </p:cNvPicPr>
          <p:nvPr/>
        </p:nvPicPr>
        <p:blipFill>
          <a:blip r:embed="rId1"/>
          <a:stretch>
            <a:fillRect/>
          </a:stretch>
        </p:blipFill>
        <p:spPr>
          <a:xfrm>
            <a:off x="548640" y="1280160"/>
            <a:ext cx="7498080" cy="4845273"/>
          </a:xfrm>
          <a:prstGeom prst="rect">
            <a:avLst/>
          </a:prstGeom>
        </p:spPr>
      </p:pic>
      <p:sp>
        <p:nvSpPr>
          <p:cNvPr id="4" name="badge_33"/>
          <p:cNvSpPr/>
          <p:nvPr/>
        </p:nvSpPr>
        <p:spPr>
          <a:xfrm>
            <a:off x="8321040" y="1417320"/>
            <a:ext cx="457200" cy="457200"/>
          </a:xfrm>
          <a:prstGeom prst="ellipse">
            <a:avLst/>
          </a:prstGeom>
          <a:solidFill>
            <a:schemeClr val="accent1"/>
          </a:solidFill>
          <a:ln w="12700">
            <a:solidFill>
              <a:schemeClr val="accent1"/>
            </a:solidFill>
            <a:prstDash val="solid"/>
          </a:ln>
        </p:spPr>
      </p:sp>
      <p:sp>
        <p:nvSpPr>
          <p:cNvPr id="5" name="badgeText_34"/>
          <p:cNvSpPr txBox="1"/>
          <p:nvPr/>
        </p:nvSpPr>
        <p:spPr>
          <a:xfrm>
            <a:off x="8321040" y="1417320"/>
            <a:ext cx="457200" cy="457200"/>
          </a:xfrm>
          <a:prstGeom prst="rect">
            <a:avLst/>
          </a:prstGeom>
          <a:noFill/>
          <a:ln/>
        </p:spPr>
        <p:txBody>
          <a:bodyPr wrap="square" lIns="0" tIns="0" rIns="0" bIns="0" rtlCol="0" anchor="ctr"/>
          <a:lstStyle/>
          <a:p>
            <a:pPr algn="ctr" indent="0" marL="0">
              <a:buNone/>
            </a:pPr>
            <a:r>
              <a:rPr lang="en-US" sz="1600" b="1" dirty="0">
                <a:solidFill>
                  <a:schemeClr val="tx2"/>
                </a:solidFill>
              </a:rPr>
              <a:t>1</a:t>
            </a:r>
            <a:endParaRPr lang="en-US" sz="1600" dirty="0"/>
          </a:p>
        </p:txBody>
      </p:sp>
      <p:sp>
        <p:nvSpPr>
          <p:cNvPr id="6" name="text_35"/>
          <p:cNvSpPr txBox="1"/>
          <p:nvPr/>
        </p:nvSpPr>
        <p:spPr>
          <a:xfrm>
            <a:off x="8915400" y="1399032"/>
            <a:ext cx="2743200" cy="411480"/>
          </a:xfrm>
          <a:prstGeom prst="rect">
            <a:avLst/>
          </a:prstGeom>
          <a:noFill/>
          <a:ln/>
        </p:spPr>
        <p:txBody>
          <a:bodyPr wrap="square" lIns="0" tIns="0" rIns="0" bIns="0" rtlCol="0" anchor="t"/>
          <a:lstStyle/>
          <a:p>
            <a:pPr indent="0" marL="0">
              <a:buNone/>
            </a:pPr>
            <a:r>
              <a:rPr lang="en-US" sz="1700" b="1" dirty="0">
                <a:solidFill>
                  <a:schemeClr val="tx2"/>
                </a:solidFill>
              </a:rPr>
              <a:t>Edge absorbs the flood</a:t>
            </a:r>
            <a:endParaRPr lang="en-US" sz="1700" dirty="0"/>
          </a:p>
        </p:txBody>
      </p:sp>
      <p:sp>
        <p:nvSpPr>
          <p:cNvPr id="7" name="text_36"/>
          <p:cNvSpPr txBox="1"/>
          <p:nvPr/>
        </p:nvSpPr>
        <p:spPr>
          <a:xfrm>
            <a:off x="8915400" y="1828800"/>
            <a:ext cx="2743200" cy="1005840"/>
          </a:xfrm>
          <a:prstGeom prst="rect">
            <a:avLst/>
          </a:prstGeom>
          <a:noFill/>
          <a:ln/>
        </p:spPr>
        <p:txBody>
          <a:bodyPr wrap="square" lIns="0" tIns="0" rIns="0" bIns="0" rtlCol="0" anchor="t"/>
          <a:lstStyle/>
          <a:p>
            <a:pPr indent="0" marL="0">
              <a:buNone/>
            </a:pPr>
            <a:r>
              <a:rPr lang="en-US" sz="1400" dirty="0">
                <a:solidFill>
                  <a:schemeClr val="tx1"/>
                </a:solidFill>
              </a:rPr>
              <a:t>CDN/WAF serves cached pages; gateway rate-limits; waiting room admits 20k/s</a:t>
            </a:r>
            <a:endParaRPr lang="en-US" sz="1400" dirty="0"/>
          </a:p>
        </p:txBody>
      </p:sp>
      <p:sp>
        <p:nvSpPr>
          <p:cNvPr id="8" name="badge_37"/>
          <p:cNvSpPr/>
          <p:nvPr/>
        </p:nvSpPr>
        <p:spPr>
          <a:xfrm>
            <a:off x="8321040" y="3017520"/>
            <a:ext cx="457200" cy="457200"/>
          </a:xfrm>
          <a:prstGeom prst="ellipse">
            <a:avLst/>
          </a:prstGeom>
          <a:solidFill>
            <a:schemeClr val="accent1"/>
          </a:solidFill>
          <a:ln w="12700">
            <a:solidFill>
              <a:schemeClr val="accent1"/>
            </a:solidFill>
            <a:prstDash val="solid"/>
          </a:ln>
        </p:spPr>
      </p:sp>
      <p:sp>
        <p:nvSpPr>
          <p:cNvPr id="9" name="badgeText_38"/>
          <p:cNvSpPr txBox="1"/>
          <p:nvPr/>
        </p:nvSpPr>
        <p:spPr>
          <a:xfrm>
            <a:off x="8321040" y="3017520"/>
            <a:ext cx="457200" cy="457200"/>
          </a:xfrm>
          <a:prstGeom prst="rect">
            <a:avLst/>
          </a:prstGeom>
          <a:noFill/>
          <a:ln/>
        </p:spPr>
        <p:txBody>
          <a:bodyPr wrap="square" lIns="0" tIns="0" rIns="0" bIns="0" rtlCol="0" anchor="ctr"/>
          <a:lstStyle/>
          <a:p>
            <a:pPr algn="ctr" indent="0" marL="0">
              <a:buNone/>
            </a:pPr>
            <a:r>
              <a:rPr lang="en-US" sz="1600" b="1" dirty="0">
                <a:solidFill>
                  <a:schemeClr val="tx2"/>
                </a:solidFill>
              </a:rPr>
              <a:t>2</a:t>
            </a:r>
            <a:endParaRPr lang="en-US" sz="1600" dirty="0"/>
          </a:p>
        </p:txBody>
      </p:sp>
      <p:sp>
        <p:nvSpPr>
          <p:cNvPr id="10" name="text_39"/>
          <p:cNvSpPr txBox="1"/>
          <p:nvPr/>
        </p:nvSpPr>
        <p:spPr>
          <a:xfrm>
            <a:off x="8915400" y="2999232"/>
            <a:ext cx="2743200" cy="411480"/>
          </a:xfrm>
          <a:prstGeom prst="rect">
            <a:avLst/>
          </a:prstGeom>
          <a:noFill/>
          <a:ln/>
        </p:spPr>
        <p:txBody>
          <a:bodyPr wrap="square" lIns="0" tIns="0" rIns="0" bIns="0" rtlCol="0" anchor="t"/>
          <a:lstStyle/>
          <a:p>
            <a:pPr indent="0" marL="0">
              <a:buNone/>
            </a:pPr>
            <a:r>
              <a:rPr lang="en-US" sz="1700" b="1" dirty="0">
                <a:solidFill>
                  <a:schemeClr val="tx2"/>
                </a:solidFill>
              </a:rPr>
              <a:t>One contention point</a:t>
            </a:r>
            <a:endParaRPr lang="en-US" sz="1700" dirty="0"/>
          </a:p>
        </p:txBody>
      </p:sp>
      <p:sp>
        <p:nvSpPr>
          <p:cNvPr id="11" name="text_40"/>
          <p:cNvSpPr txBox="1"/>
          <p:nvPr/>
        </p:nvSpPr>
        <p:spPr>
          <a:xfrm>
            <a:off x="8915400" y="3429000"/>
            <a:ext cx="2743200" cy="1005840"/>
          </a:xfrm>
          <a:prstGeom prst="rect">
            <a:avLst/>
          </a:prstGeom>
          <a:noFill/>
          <a:ln/>
        </p:spPr>
        <p:txBody>
          <a:bodyPr wrap="square" lIns="0" tIns="0" rIns="0" bIns="0" rtlCol="0" anchor="t"/>
          <a:lstStyle/>
          <a:p>
            <a:pPr indent="0" marL="0">
              <a:buNone/>
            </a:pPr>
            <a:r>
              <a:rPr lang="en-US" sz="1400" dirty="0">
                <a:solidFill>
                  <a:schemeClr val="tx1"/>
                </a:solidFill>
              </a:rPr>
              <a:t>Inventory Service: Redis Lua gate + one PostgreSQL transaction</a:t>
            </a:r>
            <a:endParaRPr lang="en-US" sz="1400" dirty="0"/>
          </a:p>
        </p:txBody>
      </p:sp>
      <p:sp>
        <p:nvSpPr>
          <p:cNvPr id="12" name="badge_41"/>
          <p:cNvSpPr/>
          <p:nvPr/>
        </p:nvSpPr>
        <p:spPr>
          <a:xfrm>
            <a:off x="8321040" y="4617720"/>
            <a:ext cx="457200" cy="457200"/>
          </a:xfrm>
          <a:prstGeom prst="ellipse">
            <a:avLst/>
          </a:prstGeom>
          <a:solidFill>
            <a:schemeClr val="accent1"/>
          </a:solidFill>
          <a:ln w="12700">
            <a:solidFill>
              <a:schemeClr val="accent1"/>
            </a:solidFill>
            <a:prstDash val="solid"/>
          </a:ln>
        </p:spPr>
      </p:sp>
      <p:sp>
        <p:nvSpPr>
          <p:cNvPr id="13" name="badgeText_42"/>
          <p:cNvSpPr txBox="1"/>
          <p:nvPr/>
        </p:nvSpPr>
        <p:spPr>
          <a:xfrm>
            <a:off x="8321040" y="4617720"/>
            <a:ext cx="457200" cy="457200"/>
          </a:xfrm>
          <a:prstGeom prst="rect">
            <a:avLst/>
          </a:prstGeom>
          <a:noFill/>
          <a:ln/>
        </p:spPr>
        <p:txBody>
          <a:bodyPr wrap="square" lIns="0" tIns="0" rIns="0" bIns="0" rtlCol="0" anchor="ctr"/>
          <a:lstStyle/>
          <a:p>
            <a:pPr algn="ctr" indent="0" marL="0">
              <a:buNone/>
            </a:pPr>
            <a:r>
              <a:rPr lang="en-US" sz="1600" b="1" dirty="0">
                <a:solidFill>
                  <a:schemeClr val="tx2"/>
                </a:solidFill>
              </a:rPr>
              <a:t>3</a:t>
            </a:r>
            <a:endParaRPr lang="en-US" sz="1600" dirty="0"/>
          </a:p>
        </p:txBody>
      </p:sp>
      <p:sp>
        <p:nvSpPr>
          <p:cNvPr id="14" name="text_43"/>
          <p:cNvSpPr txBox="1"/>
          <p:nvPr/>
        </p:nvSpPr>
        <p:spPr>
          <a:xfrm>
            <a:off x="8915400" y="4599432"/>
            <a:ext cx="2743200" cy="411480"/>
          </a:xfrm>
          <a:prstGeom prst="rect">
            <a:avLst/>
          </a:prstGeom>
          <a:noFill/>
          <a:ln/>
        </p:spPr>
        <p:txBody>
          <a:bodyPr wrap="square" lIns="0" tIns="0" rIns="0" bIns="0" rtlCol="0" anchor="t"/>
          <a:lstStyle/>
          <a:p>
            <a:pPr indent="0" marL="0">
              <a:buNone/>
            </a:pPr>
            <a:r>
              <a:rPr lang="en-US" sz="1700" b="1" dirty="0">
                <a:solidFill>
                  <a:schemeClr val="tx2"/>
                </a:solidFill>
              </a:rPr>
              <a:t>Async after payment</a:t>
            </a:r>
            <a:endParaRPr lang="en-US" sz="1700" dirty="0"/>
          </a:p>
        </p:txBody>
      </p:sp>
      <p:sp>
        <p:nvSpPr>
          <p:cNvPr id="15" name="text_44"/>
          <p:cNvSpPr txBox="1"/>
          <p:nvPr/>
        </p:nvSpPr>
        <p:spPr>
          <a:xfrm>
            <a:off x="8915400" y="5029200"/>
            <a:ext cx="2743200" cy="1005840"/>
          </a:xfrm>
          <a:prstGeom prst="rect">
            <a:avLst/>
          </a:prstGeom>
          <a:noFill/>
          <a:ln/>
        </p:spPr>
        <p:txBody>
          <a:bodyPr wrap="square" lIns="0" tIns="0" rIns="0" bIns="0" rtlCol="0" anchor="t"/>
          <a:lstStyle/>
          <a:p>
            <a:pPr indent="0" marL="0">
              <a:buNone/>
            </a:pPr>
            <a:r>
              <a:rPr lang="en-US" sz="1400" dirty="0">
                <a:solidFill>
                  <a:schemeClr val="tx1"/>
                </a:solidFill>
              </a:rPr>
              <a:t>Outbox → Kafka → idempotent consumers; DLQ + reconcilers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rPr>
              <a:t>How 10,000 requests become exactly 100 reservations</a:t>
            </a:r>
            <a:endParaRPr lang="en-US" sz="3200" dirty="0"/>
          </a:p>
        </p:txBody>
      </p:sp>
      <p:sp>
        <p:nvSpPr>
          <p:cNvPr id="3" name="funnel_45"/>
          <p:cNvSpPr/>
          <p:nvPr/>
        </p:nvSpPr>
        <p:spPr>
          <a:xfrm>
            <a:off x="548640" y="1371600"/>
            <a:ext cx="10058400" cy="777240"/>
          </a:xfrm>
          <a:prstGeom prst="roundRect">
            <a:avLst>
              <a:gd name="adj" fmla="val 11765"/>
            </a:avLst>
          </a:prstGeom>
          <a:solidFill>
            <a:schemeClr val="accent5"/>
          </a:solidFill>
          <a:ln w="12700">
            <a:solidFill>
              <a:schemeClr val="accent5"/>
            </a:solidFill>
            <a:prstDash val="solid"/>
          </a:ln>
        </p:spPr>
      </p:sp>
      <p:sp>
        <p:nvSpPr>
          <p:cNvPr id="4" name="text_46"/>
          <p:cNvSpPr txBox="1"/>
          <p:nvPr/>
        </p:nvSpPr>
        <p:spPr>
          <a:xfrm>
            <a:off x="731520" y="1371600"/>
            <a:ext cx="9692640" cy="777240"/>
          </a:xfrm>
          <a:prstGeom prst="rect">
            <a:avLst/>
          </a:prstGeom>
          <a:noFill/>
          <a:ln/>
        </p:spPr>
        <p:txBody>
          <a:bodyPr wrap="square" lIns="0" tIns="0" rIns="0" bIns="0" rtlCol="0" anchor="ctr"/>
          <a:lstStyle/>
          <a:p>
            <a:pPr algn="ctr" indent="0" marL="0">
              <a:buNone/>
            </a:pPr>
            <a:r>
              <a:rPr lang="en-US" sz="1700" b="1" dirty="0">
                <a:solidFill>
                  <a:schemeClr val="bg1"/>
                </a:solidFill>
              </a:rPr>
              <a:t>10,000 arrive   </a:t>
            </a:r>
            <a:pPr algn="ctr" indent="0" marL="0">
              <a:buNone/>
            </a:pPr>
            <a:r>
              <a:rPr lang="en-US" sz="1400" dirty="0">
                <a:solidFill>
                  <a:schemeClr val="bg1"/>
                </a:solidFill>
              </a:rPr>
              <a:t>CDN/WAF drops bots · gateway: JWT + 5 req/s per user</a:t>
            </a:r>
            <a:endParaRPr lang="en-US" sz="1700" dirty="0"/>
          </a:p>
        </p:txBody>
      </p:sp>
      <p:sp>
        <p:nvSpPr>
          <p:cNvPr id="5" name="funnel_47"/>
          <p:cNvSpPr/>
          <p:nvPr/>
        </p:nvSpPr>
        <p:spPr>
          <a:xfrm>
            <a:off x="1188720" y="2304288"/>
            <a:ext cx="8778240" cy="777240"/>
          </a:xfrm>
          <a:prstGeom prst="roundRect">
            <a:avLst>
              <a:gd name="adj" fmla="val 11765"/>
            </a:avLst>
          </a:prstGeom>
          <a:solidFill>
            <a:schemeClr val="accent4"/>
          </a:solidFill>
          <a:ln w="12700">
            <a:solidFill>
              <a:schemeClr val="accent4"/>
            </a:solidFill>
            <a:prstDash val="solid"/>
          </a:ln>
        </p:spPr>
      </p:sp>
      <p:sp>
        <p:nvSpPr>
          <p:cNvPr id="6" name="text_48"/>
          <p:cNvSpPr txBox="1"/>
          <p:nvPr/>
        </p:nvSpPr>
        <p:spPr>
          <a:xfrm>
            <a:off x="1371600" y="2304288"/>
            <a:ext cx="8412480" cy="777240"/>
          </a:xfrm>
          <a:prstGeom prst="rect">
            <a:avLst/>
          </a:prstGeom>
          <a:noFill/>
          <a:ln/>
        </p:spPr>
        <p:txBody>
          <a:bodyPr wrap="square" lIns="0" tIns="0" rIns="0" bIns="0" rtlCol="0" anchor="ctr"/>
          <a:lstStyle/>
          <a:p>
            <a:pPr algn="ctr" indent="0" marL="0">
              <a:buNone/>
            </a:pPr>
            <a:r>
              <a:rPr lang="en-US" sz="1700" b="1" dirty="0">
                <a:solidFill>
                  <a:schemeClr val="bg1"/>
                </a:solidFill>
              </a:rPr>
              <a:t>~9,800 admitted   </a:t>
            </a:r>
            <a:pPr algn="ctr" indent="0" marL="0">
              <a:buNone/>
            </a:pPr>
            <a:r>
              <a:rPr lang="en-US" sz="1400" dirty="0">
                <a:solidFill>
                  <a:schemeClr val="bg1"/>
                </a:solidFill>
              </a:rPr>
              <a:t>Waiting room issues signed admission tokens at 20k/s</a:t>
            </a:r>
            <a:endParaRPr lang="en-US" sz="1700" dirty="0"/>
          </a:p>
        </p:txBody>
      </p:sp>
      <p:sp>
        <p:nvSpPr>
          <p:cNvPr id="7" name="funnel_49"/>
          <p:cNvSpPr/>
          <p:nvPr/>
        </p:nvSpPr>
        <p:spPr>
          <a:xfrm>
            <a:off x="1920240" y="3236976"/>
            <a:ext cx="7315200" cy="777240"/>
          </a:xfrm>
          <a:prstGeom prst="roundRect">
            <a:avLst>
              <a:gd name="adj" fmla="val 11765"/>
            </a:avLst>
          </a:prstGeom>
          <a:solidFill>
            <a:schemeClr val="tx2"/>
          </a:solidFill>
          <a:ln w="12700">
            <a:solidFill>
              <a:schemeClr val="tx2"/>
            </a:solidFill>
            <a:prstDash val="solid"/>
          </a:ln>
        </p:spPr>
      </p:sp>
      <p:sp>
        <p:nvSpPr>
          <p:cNvPr id="8" name="text_50"/>
          <p:cNvSpPr txBox="1"/>
          <p:nvPr/>
        </p:nvSpPr>
        <p:spPr>
          <a:xfrm>
            <a:off x="2103120" y="3236976"/>
            <a:ext cx="6949440" cy="777240"/>
          </a:xfrm>
          <a:prstGeom prst="rect">
            <a:avLst/>
          </a:prstGeom>
          <a:noFill/>
          <a:ln/>
        </p:spPr>
        <p:txBody>
          <a:bodyPr wrap="square" lIns="0" tIns="0" rIns="0" bIns="0" rtlCol="0" anchor="ctr"/>
          <a:lstStyle/>
          <a:p>
            <a:pPr algn="ctr" indent="0" marL="0">
              <a:buNone/>
            </a:pPr>
            <a:r>
              <a:rPr lang="en-US" sz="1700" b="1" dirty="0">
                <a:solidFill>
                  <a:schemeClr val="bg1"/>
                </a:solidFill>
              </a:rPr>
              <a:t>Redis Lua gate   </a:t>
            </a:r>
            <a:pPr algn="ctr" indent="0" marL="0">
              <a:buNone/>
            </a:pPr>
            <a:r>
              <a:rPr lang="en-US" sz="1400" dirty="0">
                <a:solidFill>
                  <a:schemeClr val="bg1"/>
                </a:solidFill>
              </a:rPr>
              <a:t>100 OK · ~9,700 SOLD_OUT in &lt; 1 ms · ~200 duplicates replayed</a:t>
            </a:r>
            <a:endParaRPr lang="en-US" sz="1700" dirty="0"/>
          </a:p>
        </p:txBody>
      </p:sp>
      <p:sp>
        <p:nvSpPr>
          <p:cNvPr id="9" name="funnel_51"/>
          <p:cNvSpPr/>
          <p:nvPr/>
        </p:nvSpPr>
        <p:spPr>
          <a:xfrm>
            <a:off x="3017520" y="4169664"/>
            <a:ext cx="5120640" cy="777240"/>
          </a:xfrm>
          <a:prstGeom prst="roundRect">
            <a:avLst>
              <a:gd name="adj" fmla="val 11765"/>
            </a:avLst>
          </a:prstGeom>
          <a:solidFill>
            <a:schemeClr val="accent3"/>
          </a:solidFill>
          <a:ln w="12700">
            <a:solidFill>
              <a:schemeClr val="accent3"/>
            </a:solidFill>
            <a:prstDash val="solid"/>
          </a:ln>
        </p:spPr>
      </p:sp>
      <p:sp>
        <p:nvSpPr>
          <p:cNvPr id="10" name="text_52"/>
          <p:cNvSpPr txBox="1"/>
          <p:nvPr/>
        </p:nvSpPr>
        <p:spPr>
          <a:xfrm>
            <a:off x="3200400" y="4169664"/>
            <a:ext cx="4754880" cy="777240"/>
          </a:xfrm>
          <a:prstGeom prst="rect">
            <a:avLst/>
          </a:prstGeom>
          <a:noFill/>
          <a:ln/>
        </p:spPr>
        <p:txBody>
          <a:bodyPr wrap="square" lIns="0" tIns="0" rIns="0" bIns="0" rtlCol="0" anchor="ctr"/>
          <a:lstStyle/>
          <a:p>
            <a:pPr algn="ctr" indent="0" marL="0">
              <a:buNone/>
            </a:pPr>
            <a:r>
              <a:rPr lang="en-US" sz="1700" b="1" dirty="0">
                <a:solidFill>
                  <a:schemeClr val="bg1"/>
                </a:solidFill>
              </a:rPr>
              <a:t>PostgreSQL txn   </a:t>
            </a:r>
            <a:pPr algn="ctr" indent="0" marL="0">
              <a:buNone/>
            </a:pPr>
            <a:r>
              <a:rPr lang="en-US" sz="1400" dirty="0">
                <a:solidFill>
                  <a:schemeClr val="bg1"/>
                </a:solidFill>
              </a:rPr>
              <a:t>100 conditional UPDATEs commit (≈1 ms each on the hot row)</a:t>
            </a:r>
            <a:endParaRPr lang="en-US" sz="1700" dirty="0"/>
          </a:p>
        </p:txBody>
      </p:sp>
      <p:sp>
        <p:nvSpPr>
          <p:cNvPr id="11" name="funnel_53"/>
          <p:cNvSpPr/>
          <p:nvPr/>
        </p:nvSpPr>
        <p:spPr>
          <a:xfrm>
            <a:off x="3931920" y="5102352"/>
            <a:ext cx="3291840" cy="777240"/>
          </a:xfrm>
          <a:prstGeom prst="roundRect">
            <a:avLst>
              <a:gd name="adj" fmla="val 11765"/>
            </a:avLst>
          </a:prstGeom>
          <a:solidFill>
            <a:schemeClr val="accent1"/>
          </a:solidFill>
          <a:ln w="12700">
            <a:solidFill>
              <a:schemeClr val="accent1"/>
            </a:solidFill>
            <a:prstDash val="solid"/>
          </a:ln>
        </p:spPr>
      </p:sp>
      <p:sp>
        <p:nvSpPr>
          <p:cNvPr id="12" name="text_54"/>
          <p:cNvSpPr txBox="1"/>
          <p:nvPr/>
        </p:nvSpPr>
        <p:spPr>
          <a:xfrm>
            <a:off x="4114800" y="5102352"/>
            <a:ext cx="2926080" cy="777240"/>
          </a:xfrm>
          <a:prstGeom prst="rect">
            <a:avLst/>
          </a:prstGeom>
          <a:noFill/>
          <a:ln/>
        </p:spPr>
        <p:txBody>
          <a:bodyPr wrap="square" lIns="0" tIns="0" rIns="0" bIns="0" rtlCol="0" anchor="ctr"/>
          <a:lstStyle/>
          <a:p>
            <a:pPr algn="ctr" indent="0" marL="0">
              <a:buNone/>
            </a:pPr>
            <a:r>
              <a:rPr lang="en-US" sz="1700" b="1" dirty="0">
                <a:solidFill>
                  <a:schemeClr val="tx2"/>
                </a:solidFill>
              </a:rPr>
              <a:t>100 reserved   </a:t>
            </a:r>
            <a:pPr algn="ctr" indent="0" marL="0">
              <a:buNone/>
            </a:pPr>
            <a:r>
              <a:rPr lang="en-US" sz="1400" dirty="0">
                <a:solidFill>
                  <a:schemeClr val="tx2"/>
                </a:solidFill>
              </a:rPr>
              <a:t>0 oversold</a:t>
            </a:r>
            <a:endParaRPr lang="en-US" sz="1700" dirty="0"/>
          </a:p>
        </p:txBody>
      </p:sp>
      <p:sp>
        <p:nvSpPr>
          <p:cNvPr id="13" name="card_55"/>
          <p:cNvSpPr/>
          <p:nvPr/>
        </p:nvSpPr>
        <p:spPr>
          <a:xfrm>
            <a:off x="10835640" y="1371600"/>
            <a:ext cx="777240" cy="4507992"/>
          </a:xfrm>
          <a:prstGeom prst="roundRect">
            <a:avLst>
              <a:gd name="adj" fmla="val 14118"/>
            </a:avLst>
          </a:prstGeom>
          <a:solidFill>
            <a:schemeClr val="bg2"/>
          </a:solidFill>
          <a:ln w="12700">
            <a:solidFill>
              <a:schemeClr val="bg2"/>
            </a:solidFill>
            <a:prstDash val="solid"/>
          </a:ln>
        </p:spPr>
      </p:sp>
      <p:sp>
        <p:nvSpPr>
          <p:cNvPr id="14" name="text_56"/>
          <p:cNvSpPr txBox="1"/>
          <p:nvPr/>
        </p:nvSpPr>
        <p:spPr>
          <a:xfrm>
            <a:off x="10881360" y="1463040"/>
            <a:ext cx="685800" cy="4297680"/>
          </a:xfrm>
          <a:prstGeom prst="rect">
            <a:avLst/>
          </a:prstGeom>
          <a:noFill/>
          <a:ln/>
        </p:spPr>
        <p:txBody>
          <a:bodyPr wrap="square" lIns="0" tIns="0" rIns="0" bIns="0" rtlCol="0" anchor="ctr" vert="vert270"/>
          <a:lstStyle/>
          <a:p>
            <a:pPr algn="ctr" indent="0" marL="0">
              <a:buNone/>
            </a:pPr>
            <a:r>
              <a:rPr lang="en-US" sz="1400" b="1" dirty="0">
                <a:solidFill>
                  <a:schemeClr val="tx2"/>
                </a:solidFill>
              </a:rPr>
              <a:t>&lt;1 ms per reject</a:t>
            </a:r>
            <a:endParaRPr lang="en-US" sz="1400" dirty="0"/>
          </a:p>
        </p:txBody>
      </p:sp>
      <p:sp>
        <p:nvSpPr>
          <p:cNvPr id="15" name="text_57"/>
          <p:cNvSpPr txBox="1"/>
          <p:nvPr/>
        </p:nvSpPr>
        <p:spPr>
          <a:xfrm>
            <a:off x="548640" y="6126480"/>
            <a:ext cx="10058400" cy="274320"/>
          </a:xfrm>
          <a:prstGeom prst="rect">
            <a:avLst/>
          </a:prstGeom>
          <a:noFill/>
          <a:ln/>
        </p:spPr>
        <p:txBody>
          <a:bodyPr wrap="square" lIns="0" tIns="0" rIns="0" bIns="0" rtlCol="0" anchor="t"/>
          <a:lstStyle/>
          <a:p>
            <a:pPr indent="0" marL="0">
              <a:buNone/>
            </a:pPr>
            <a:r>
              <a:rPr lang="en-US" sz="1300" i="1" dirty="0">
                <a:solidFill>
                  <a:schemeClr val="accent4"/>
                </a:solidFill>
              </a:rPr>
              <a:t>Failed payments (~5%) release units → waiting room re-admits the next buyers → converges to exactly 100 SOLD.</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rPr>
              <a:t>Consistency is guaranteed by one SQL statement</a:t>
            </a:r>
            <a:endParaRPr lang="en-US" sz="3200" dirty="0"/>
          </a:p>
        </p:txBody>
      </p:sp>
      <p:sp>
        <p:nvSpPr>
          <p:cNvPr id="3" name="card_58"/>
          <p:cNvSpPr/>
          <p:nvPr/>
        </p:nvSpPr>
        <p:spPr>
          <a:xfrm>
            <a:off x="548640" y="1325880"/>
            <a:ext cx="5394960" cy="3520440"/>
          </a:xfrm>
          <a:prstGeom prst="roundRect">
            <a:avLst>
              <a:gd name="adj" fmla="val 3117"/>
            </a:avLst>
          </a:prstGeom>
          <a:solidFill>
            <a:schemeClr val="tx2"/>
          </a:solidFill>
          <a:ln w="12700">
            <a:solidFill>
              <a:schemeClr val="tx2"/>
            </a:solidFill>
            <a:prstDash val="solid"/>
          </a:ln>
        </p:spPr>
      </p:sp>
      <p:sp>
        <p:nvSpPr>
          <p:cNvPr id="4" name="text_59"/>
          <p:cNvSpPr txBox="1"/>
          <p:nvPr/>
        </p:nvSpPr>
        <p:spPr>
          <a:xfrm>
            <a:off x="777240" y="1463040"/>
            <a:ext cx="4937760" cy="411480"/>
          </a:xfrm>
          <a:prstGeom prst="rect">
            <a:avLst/>
          </a:prstGeom>
          <a:noFill/>
          <a:ln/>
        </p:spPr>
        <p:txBody>
          <a:bodyPr wrap="square" lIns="0" tIns="0" rIns="0" bIns="0" rtlCol="0" anchor="t"/>
          <a:lstStyle/>
          <a:p>
            <a:pPr indent="0" marL="0">
              <a:buNone/>
            </a:pPr>
            <a:r>
              <a:rPr lang="en-US" sz="1800" b="1" dirty="0">
                <a:solidFill>
                  <a:schemeClr val="accent1"/>
                </a:solidFill>
              </a:rPr>
              <a:t>Layer 1 · Redis Lua gate (speed)</a:t>
            </a:r>
            <a:endParaRPr lang="en-US" sz="1800" dirty="0"/>
          </a:p>
        </p:txBody>
      </p:sp>
      <p:sp>
        <p:nvSpPr>
          <p:cNvPr id="5" name="text_60"/>
          <p:cNvSpPr txBox="1"/>
          <p:nvPr/>
        </p:nvSpPr>
        <p:spPr>
          <a:xfrm>
            <a:off x="777240" y="1965960"/>
            <a:ext cx="4937760" cy="2011680"/>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if SISMEMBER buyers cust → LIMIT_REACHED</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if GET stock &lt; qty        → SOLD_OUT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DECRBY stock qty</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SADD buyers cust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SET idem:key PENDING EX 900</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return OK</a:t>
            </a:r>
            <a:endParaRPr lang="en-US" sz="1300" dirty="0"/>
          </a:p>
        </p:txBody>
      </p:sp>
      <p:sp>
        <p:nvSpPr>
          <p:cNvPr id="6" name="text_61"/>
          <p:cNvSpPr txBox="1"/>
          <p:nvPr/>
        </p:nvSpPr>
        <p:spPr>
          <a:xfrm>
            <a:off x="777240" y="4069080"/>
            <a:ext cx="4937760" cy="640080"/>
          </a:xfrm>
          <a:prstGeom prst="rect">
            <a:avLst/>
          </a:prstGeom>
          <a:noFill/>
          <a:ln/>
        </p:spPr>
        <p:txBody>
          <a:bodyPr wrap="square" lIns="0" tIns="0" rIns="0" bIns="0" rtlCol="0" anchor="t"/>
          <a:lstStyle/>
          <a:p>
            <a:pPr indent="0" marL="0">
              <a:buNone/>
            </a:pPr>
            <a:r>
              <a:rPr lang="en-US" sz="1400" dirty="0">
                <a:solidFill>
                  <a:schemeClr val="bg2"/>
                </a:solidFill>
              </a:rPr>
              <a:t>Atomic, one script at a time: the 101st caller sees stock = 0</a:t>
            </a:r>
            <a:endParaRPr lang="en-US" sz="1400" dirty="0"/>
          </a:p>
        </p:txBody>
      </p:sp>
      <p:sp>
        <p:nvSpPr>
          <p:cNvPr id="7" name="card_62"/>
          <p:cNvSpPr/>
          <p:nvPr/>
        </p:nvSpPr>
        <p:spPr>
          <a:xfrm>
            <a:off x="6263640" y="1325880"/>
            <a:ext cx="5349240" cy="3520440"/>
          </a:xfrm>
          <a:prstGeom prst="roundRect">
            <a:avLst>
              <a:gd name="adj" fmla="val 3117"/>
            </a:avLst>
          </a:prstGeom>
          <a:solidFill>
            <a:schemeClr val="bg2"/>
          </a:solidFill>
          <a:ln w="12700">
            <a:solidFill>
              <a:schemeClr val="bg2"/>
            </a:solidFill>
            <a:prstDash val="solid"/>
          </a:ln>
        </p:spPr>
      </p:sp>
      <p:sp>
        <p:nvSpPr>
          <p:cNvPr id="8" name="text_63"/>
          <p:cNvSpPr txBox="1"/>
          <p:nvPr/>
        </p:nvSpPr>
        <p:spPr>
          <a:xfrm>
            <a:off x="6492240" y="1463040"/>
            <a:ext cx="4937760" cy="411480"/>
          </a:xfrm>
          <a:prstGeom prst="rect">
            <a:avLst/>
          </a:prstGeom>
          <a:noFill/>
          <a:ln/>
        </p:spPr>
        <p:txBody>
          <a:bodyPr wrap="square" lIns="0" tIns="0" rIns="0" bIns="0" rtlCol="0" anchor="t"/>
          <a:lstStyle/>
          <a:p>
            <a:pPr indent="0" marL="0">
              <a:buNone/>
            </a:pPr>
            <a:r>
              <a:rPr lang="en-US" sz="1800" b="1" dirty="0">
                <a:solidFill>
                  <a:schemeClr val="tx2"/>
                </a:solidFill>
              </a:rPr>
              <a:t>Layer 2 · PostgreSQL (the guarantee)</a:t>
            </a:r>
            <a:endParaRPr lang="en-US" sz="1800" dirty="0"/>
          </a:p>
        </p:txBody>
      </p:sp>
      <p:sp>
        <p:nvSpPr>
          <p:cNvPr id="9" name="text_64"/>
          <p:cNvSpPr txBox="1"/>
          <p:nvPr/>
        </p:nvSpPr>
        <p:spPr>
          <a:xfrm>
            <a:off x="6492240" y="1965960"/>
            <a:ext cx="4937760" cy="2103120"/>
          </a:xfrm>
          <a:prstGeom prst="rect">
            <a:avLst/>
          </a:prstGeom>
          <a:noFill/>
          <a:ln/>
        </p:spPr>
        <p:txBody>
          <a:bodyPr wrap="square" lIns="0" tIns="0" rIns="0" bIns="0" rtlCol="0" anchor="t"/>
          <a:lstStyle/>
          <a:p>
            <a:pPr indent="0" marL="0">
              <a:buNone/>
            </a:pPr>
            <a:r>
              <a:rPr lang="en-US" sz="1300" dirty="0">
                <a:solidFill>
                  <a:schemeClr val="tx1"/>
                </a:solidFill>
                <a:latin typeface="Courier New" pitchFamily="34" charset="0"/>
                <a:ea typeface="Courier New" pitchFamily="34" charset="-122"/>
                <a:cs typeface="Courier New" pitchFamily="34" charset="-120"/>
              </a:rPr>
              <a:t>BEGIN;</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UPDATE inventory</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SET available = available - 1,</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reserved  = reserved + 1</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WHERE sale_id = :s AND available &gt;= 1;</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INSERT reservation (... idempotency_key UNIQUE);</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INSERT outbox_event (...);</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COMMIT;</a:t>
            </a:r>
            <a:endParaRPr lang="en-US" sz="1300" dirty="0"/>
          </a:p>
        </p:txBody>
      </p:sp>
      <p:sp>
        <p:nvSpPr>
          <p:cNvPr id="10" name="text_65"/>
          <p:cNvSpPr txBox="1"/>
          <p:nvPr/>
        </p:nvSpPr>
        <p:spPr>
          <a:xfrm>
            <a:off x="6492240" y="4160520"/>
            <a:ext cx="4937760" cy="548640"/>
          </a:xfrm>
          <a:prstGeom prst="rect">
            <a:avLst/>
          </a:prstGeom>
          <a:noFill/>
          <a:ln/>
        </p:spPr>
        <p:txBody>
          <a:bodyPr wrap="square" lIns="0" tIns="0" rIns="0" bIns="0" rtlCol="0" anchor="t"/>
          <a:lstStyle/>
          <a:p>
            <a:pPr indent="0" marL="0">
              <a:buNone/>
            </a:pPr>
            <a:r>
              <a:rPr lang="en-US" sz="1400" b="1" dirty="0">
                <a:solidFill>
                  <a:schemeClr val="accent2"/>
                </a:solidFill>
              </a:rPr>
              <a:t>CHECK (available &gt;= 0) and available + reserved + sold = total</a:t>
            </a:r>
            <a:endParaRPr lang="en-US" sz="1400" dirty="0"/>
          </a:p>
        </p:txBody>
      </p:sp>
      <p:sp>
        <p:nvSpPr>
          <p:cNvPr id="11" name="badge_66"/>
          <p:cNvSpPr/>
          <p:nvPr/>
        </p:nvSpPr>
        <p:spPr>
          <a:xfrm>
            <a:off x="548640" y="5120640"/>
            <a:ext cx="502920" cy="502920"/>
          </a:xfrm>
          <a:prstGeom prst="ellipse">
            <a:avLst/>
          </a:prstGeom>
          <a:solidFill>
            <a:schemeClr val="accent1"/>
          </a:solidFill>
          <a:ln w="12700">
            <a:solidFill>
              <a:schemeClr val="accent1"/>
            </a:solidFill>
            <a:prstDash val="solid"/>
          </a:ln>
        </p:spPr>
      </p:sp>
      <p:sp>
        <p:nvSpPr>
          <p:cNvPr id="12" name="badgeText_67"/>
          <p:cNvSpPr txBox="1"/>
          <p:nvPr/>
        </p:nvSpPr>
        <p:spPr>
          <a:xfrm>
            <a:off x="548640" y="5120640"/>
            <a:ext cx="502920" cy="502920"/>
          </a:xfrm>
          <a:prstGeom prst="rect">
            <a:avLst/>
          </a:prstGeom>
          <a:noFill/>
          <a:ln/>
        </p:spPr>
        <p:txBody>
          <a:bodyPr wrap="square" lIns="0" tIns="0" rIns="0" bIns="0" rtlCol="0" anchor="ctr"/>
          <a:lstStyle/>
          <a:p>
            <a:pPr algn="ctr" indent="0" marL="0">
              <a:buNone/>
            </a:pPr>
            <a:r>
              <a:rPr lang="en-US" sz="1800" b="1" dirty="0">
                <a:solidFill>
                  <a:schemeClr val="tx2"/>
                </a:solidFill>
              </a:rPr>
              <a:t>?</a:t>
            </a:r>
            <a:endParaRPr lang="en-US" sz="1800" dirty="0"/>
          </a:p>
        </p:txBody>
      </p:sp>
      <p:sp>
        <p:nvSpPr>
          <p:cNvPr id="13" name="text_68"/>
          <p:cNvSpPr txBox="1"/>
          <p:nvPr/>
        </p:nvSpPr>
        <p:spPr>
          <a:xfrm>
            <a:off x="1234440" y="5074920"/>
            <a:ext cx="10332720" cy="365760"/>
          </a:xfrm>
          <a:prstGeom prst="rect">
            <a:avLst/>
          </a:prstGeom>
          <a:noFill/>
          <a:ln/>
        </p:spPr>
        <p:txBody>
          <a:bodyPr wrap="square" lIns="0" tIns="0" rIns="0" bIns="0" rtlCol="0" anchor="t"/>
          <a:lstStyle/>
          <a:p>
            <a:pPr indent="0" marL="0">
              <a:buNone/>
            </a:pPr>
            <a:r>
              <a:rPr lang="en-US" sz="1700" b="1" dirty="0">
                <a:solidFill>
                  <a:schemeClr val="tx2"/>
                </a:solidFill>
              </a:rPr>
              <a:t>Last unit, two requests at the same instant</a:t>
            </a:r>
            <a:endParaRPr lang="en-US" sz="1700" dirty="0"/>
          </a:p>
        </p:txBody>
      </p:sp>
      <p:sp>
        <p:nvSpPr>
          <p:cNvPr id="14" name="text_69"/>
          <p:cNvSpPr txBox="1"/>
          <p:nvPr/>
        </p:nvSpPr>
        <p:spPr>
          <a:xfrm>
            <a:off x="1234440" y="5440680"/>
            <a:ext cx="10332720" cy="822960"/>
          </a:xfrm>
          <a:prstGeom prst="rect">
            <a:avLst/>
          </a:prstGeom>
          <a:noFill/>
          <a:ln/>
        </p:spPr>
        <p:txBody>
          <a:bodyPr wrap="square" lIns="0" tIns="0" rIns="0" bIns="0" rtlCol="0" anchor="t"/>
          <a:lstStyle/>
          <a:p>
            <a:pPr indent="0" marL="0">
              <a:buNone/>
            </a:pPr>
            <a:r>
              <a:rPr lang="en-US" sz="1400" dirty="0">
                <a:solidFill>
                  <a:schemeClr val="tx1"/>
                </a:solidFill>
              </a:rPr>
              <a:t>Redis serialises the scripts, so only one sees stock = 1. Even if Redis were wrong, the row lock plus “WHERE available &gt;= 1” lets exactly one UPDATE succeed; the other gets 0 rows → 409 SOLD_OUT. Every failure errs toward underselling, never overselling.</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rPr>
              <a:t>Why not plain locking? Five approaches compared</a:t>
            </a:r>
            <a:endParaRPr lang="en-US" sz="3200" dirty="0"/>
          </a:p>
        </p:txBody>
      </p:sp>
      <p:graphicFrame>
        <p:nvGraphicFramePr>
          <p:cNvPr id="8" name="table_7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291840"/>
                <a:gridCol w="5852160"/>
                <a:gridCol w="1920240"/>
              </a:tblGrid>
              <a:tr h="640080">
                <a:tc>
                  <a:txBody>
                    <a:bodyPr/>
                    <a:lstStyle/>
                    <a:p>
                      <a:pPr indent="0" marL="0">
                        <a:buNone/>
                      </a:pPr>
                      <a:r>
                        <a:rPr lang="en-US" sz="1400" b="1" dirty="0">
                          <a:solidFill>
                            <a:schemeClr val="bg1"/>
                          </a:solidFill>
                        </a:rPr>
                        <a:t>Approach</a:t>
                      </a:r>
                      <a:endParaRPr lang="en-US" sz="1400" dirty="0"/>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Behaviour with 10,000 → 100 on one row</a:t>
                      </a:r>
                      <a:endParaRPr lang="en-US" sz="1400" dirty="0"/>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Verdict</a:t>
                      </a:r>
                      <a:endParaRPr lang="en-US" sz="1400" dirty="0"/>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chemeClr val="tx2"/>
                    </a:solidFill>
                  </a:tcPr>
                </a:tc>
              </a:tr>
              <a:tr h="640080">
                <a:tc>
                  <a:txBody>
                    <a:bodyPr/>
                    <a:lstStyle/>
                    <a:p>
                      <a:pPr indent="0" marL="0">
                        <a:buNone/>
                      </a:pPr>
                      <a:r>
                        <a:rPr lang="en-US" sz="1400" dirty="0">
                          <a:solidFill>
                            <a:schemeClr val="tx1"/>
                          </a:solidFill>
                        </a:rPr>
                        <a:t>Pessimistic lock (SELECT … FOR UPDATE)</a:t>
                      </a:r>
                      <a:endParaRPr lang="en-US" sz="1400" dirty="0"/>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Lock convoy: 10k transactions queue on one row, pool exhaustion, timeouts</a:t>
                      </a:r>
                      <a:endParaRPr lang="en-US" sz="1400" dirty="0"/>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2"/>
                          </a:solidFill>
                        </a:rPr>
                        <a:t>Rejected alone</a:t>
                      </a:r>
                      <a:endParaRPr lang="en-US" sz="1400" dirty="0"/>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chemeClr val="bg1"/>
                    </a:solidFill>
                  </a:tcPr>
                </a:tc>
              </a:tr>
              <a:tr h="640080">
                <a:tc>
                  <a:txBody>
                    <a:bodyPr/>
                    <a:lstStyle/>
                    <a:p>
                      <a:pPr indent="0" marL="0">
                        <a:buNone/>
                      </a:pPr>
                      <a:r>
                        <a:rPr lang="en-US" sz="1400" dirty="0">
                          <a:solidFill>
                            <a:schemeClr val="tx1"/>
                          </a:solidFill>
                        </a:rPr>
                        <a:t>Optimistic lock (version column)</a:t>
                      </a:r>
                      <a:endParaRPr lang="en-US" sz="1400" dirty="0"/>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Almost every attempt conflicts and retries → retry storm, livelock</a:t>
                      </a:r>
                      <a:endParaRPr lang="en-US" sz="1400" dirty="0"/>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2"/>
                          </a:solidFill>
                        </a:rPr>
                        <a:t>Rejected</a:t>
                      </a:r>
                      <a:endParaRPr lang="en-US" sz="1400" dirty="0"/>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chemeClr val="bg1"/>
                    </a:solidFill>
                  </a:tcPr>
                </a:tc>
              </a:tr>
              <a:tr h="640080">
                <a:tc>
                  <a:txBody>
                    <a:bodyPr/>
                    <a:lstStyle/>
                    <a:p>
                      <a:pPr indent="0" marL="0">
                        <a:buNone/>
                      </a:pPr>
                      <a:r>
                        <a:rPr lang="en-US" sz="1400" dirty="0">
                          <a:solidFill>
                            <a:schemeClr val="tx1"/>
                          </a:solidFill>
                        </a:rPr>
                        <a:t>Atomic conditional UPDATE</a:t>
                      </a:r>
                      <a:endParaRPr lang="en-US" sz="1400" dirty="0"/>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Correct in one statement, lock held microseconds; still one hot row</a:t>
                      </a:r>
                      <a:endParaRPr lang="en-US" sz="1400" dirty="0"/>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3"/>
                          </a:solidFill>
                        </a:rPr>
                        <a:t>Chosen: truth</a:t>
                      </a:r>
                      <a:endParaRPr lang="en-US" sz="1400" dirty="0"/>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chemeClr val="bg1"/>
                    </a:solidFill>
                  </a:tcPr>
                </a:tc>
              </a:tr>
              <a:tr h="640080">
                <a:tc>
                  <a:txBody>
                    <a:bodyPr/>
                    <a:lstStyle/>
                    <a:p>
                      <a:pPr indent="0" marL="0">
                        <a:buNone/>
                      </a:pPr>
                      <a:r>
                        <a:rPr lang="en-US" sz="1400" dirty="0">
                          <a:solidFill>
                            <a:schemeClr val="tx1"/>
                          </a:solidFill>
                        </a:rPr>
                        <a:t>Redis Lua atomic counter</a:t>
                      </a:r>
                      <a:endParaRPr lang="en-US" sz="1400" dirty="0"/>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100k+ ops/s on one key, sub-ms; needs sync with DB</a:t>
                      </a:r>
                      <a:endParaRPr lang="en-US" sz="1400" dirty="0"/>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3"/>
                          </a:solidFill>
                        </a:rPr>
                        <a:t>Chosen: gate</a:t>
                      </a:r>
                      <a:endParaRPr lang="en-US" sz="1400" dirty="0"/>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chemeClr val="bg1"/>
                    </a:solidFill>
                  </a:tcPr>
                </a:tc>
              </a:tr>
              <a:tr h="640080">
                <a:tc>
                  <a:txBody>
                    <a:bodyPr/>
                    <a:lstStyle/>
                    <a:p>
                      <a:pPr indent="0" marL="0">
                        <a:buNone/>
                      </a:pPr>
                      <a:r>
                        <a:rPr lang="en-US" sz="1400" dirty="0">
                          <a:solidFill>
                            <a:schemeClr val="tx1"/>
                          </a:solidFill>
                        </a:rPr>
                        <a:t>Single-consumer queue per SKU</a:t>
                      </a:r>
                      <a:endParaRPr lang="en-US" sz="1400" dirty="0"/>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Perfect FIFO, but async answer and extra latency</a:t>
                      </a:r>
                      <a:endParaRPr lang="en-US" sz="1400" dirty="0"/>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3"/>
                          </a:solidFill>
                        </a:rPr>
                        <a:t>Scale-out path</a:t>
                      </a:r>
                      <a:endParaRPr lang="en-US" sz="1400" dirty="0"/>
                    </a:p>
                  </a:txBody>
                  <a:tcPr marL="91440" marR="91440" marT="45720" marB="45720"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chemeClr val="bg1"/>
                    </a:solidFill>
                  </a:tcPr>
                </a:tc>
              </a:tr>
            </a:tbl>
          </a:graphicData>
        </a:graphic>
      </p:graphicFrame>
      <p:sp>
        <p:nvSpPr>
          <p:cNvPr id="4" name="text_71"/>
          <p:cNvSpPr txBox="1"/>
          <p:nvPr/>
        </p:nvSpPr>
        <p:spPr>
          <a:xfrm>
            <a:off x="548640" y="5577840"/>
            <a:ext cx="11064240" cy="548640"/>
          </a:xfrm>
          <a:prstGeom prst="rect">
            <a:avLst/>
          </a:prstGeom>
          <a:noFill/>
          <a:ln/>
        </p:spPr>
        <p:txBody>
          <a:bodyPr wrap="square" lIns="0" tIns="0" rIns="0" bIns="0" rtlCol="0" anchor="t"/>
          <a:lstStyle/>
          <a:p>
            <a:pPr indent="0" marL="0">
              <a:buNone/>
            </a:pPr>
            <a:r>
              <a:rPr lang="en-US" sz="1500" b="1" dirty="0">
                <a:solidFill>
                  <a:schemeClr val="tx2"/>
                </a:solidFill>
              </a:rPr>
              <a:t>Selected: Redis Lua gate in front of an atomic conditional UPDATE (ADR-003). Fast rejection from Redis, hard guarantee from PostgreSQL.</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rPr>
              <a:t>Every payment outcome has a defined, idempotent path</a:t>
            </a:r>
            <a:endParaRPr lang="en-US" sz="3200" dirty="0"/>
          </a:p>
        </p:txBody>
      </p:sp>
      <p:sp>
        <p:nvSpPr>
          <p:cNvPr id="3" name="card_72"/>
          <p:cNvSpPr/>
          <p:nvPr/>
        </p:nvSpPr>
        <p:spPr>
          <a:xfrm>
            <a:off x="548640" y="1371600"/>
            <a:ext cx="5440680" cy="1828800"/>
          </a:xfrm>
          <a:prstGeom prst="roundRect">
            <a:avLst>
              <a:gd name="adj" fmla="val 6000"/>
            </a:avLst>
          </a:prstGeom>
          <a:solidFill>
            <a:schemeClr val="bg2"/>
          </a:solidFill>
          <a:ln w="12700">
            <a:solidFill>
              <a:schemeClr val="bg2"/>
            </a:solidFill>
            <a:prstDash val="solid"/>
          </a:ln>
        </p:spPr>
      </p:sp>
      <p:sp>
        <p:nvSpPr>
          <p:cNvPr id="4" name="badge_73"/>
          <p:cNvSpPr/>
          <p:nvPr/>
        </p:nvSpPr>
        <p:spPr>
          <a:xfrm>
            <a:off x="777240" y="1600200"/>
            <a:ext cx="457200" cy="457200"/>
          </a:xfrm>
          <a:prstGeom prst="ellipse">
            <a:avLst/>
          </a:prstGeom>
          <a:solidFill>
            <a:schemeClr val="accent3"/>
          </a:solidFill>
          <a:ln w="12700">
            <a:solidFill>
              <a:schemeClr val="accent3"/>
            </a:solidFill>
            <a:prstDash val="solid"/>
          </a:ln>
        </p:spPr>
      </p:sp>
      <p:sp>
        <p:nvSpPr>
          <p:cNvPr id="5" name="badgeText_74"/>
          <p:cNvSpPr txBox="1"/>
          <p:nvPr/>
        </p:nvSpPr>
        <p:spPr>
          <a:xfrm>
            <a:off x="777240" y="1600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_75"/>
          <p:cNvSpPr txBox="1"/>
          <p:nvPr/>
        </p:nvSpPr>
        <p:spPr>
          <a:xfrm>
            <a:off x="1417320" y="1618488"/>
            <a:ext cx="4389120" cy="411480"/>
          </a:xfrm>
          <a:prstGeom prst="rect">
            <a:avLst/>
          </a:prstGeom>
          <a:noFill/>
          <a:ln/>
        </p:spPr>
        <p:txBody>
          <a:bodyPr wrap="square" lIns="0" tIns="0" rIns="0" bIns="0" rtlCol="0" anchor="t"/>
          <a:lstStyle/>
          <a:p>
            <a:pPr indent="0" marL="0">
              <a:buNone/>
            </a:pPr>
            <a:r>
              <a:rPr lang="en-US" sz="1800" b="1" dirty="0">
                <a:solidFill>
                  <a:schemeClr val="tx2"/>
                </a:solidFill>
              </a:rPr>
              <a:t>Succeeds (95%)</a:t>
            </a:r>
            <a:endParaRPr lang="en-US" sz="1800" dirty="0"/>
          </a:p>
        </p:txBody>
      </p:sp>
      <p:sp>
        <p:nvSpPr>
          <p:cNvPr id="7" name="text_76"/>
          <p:cNvSpPr txBox="1"/>
          <p:nvPr/>
        </p:nvSpPr>
        <p:spPr>
          <a:xfrm>
            <a:off x="1417320" y="2103120"/>
            <a:ext cx="4389120" cy="1005840"/>
          </a:xfrm>
          <a:prstGeom prst="rect">
            <a:avLst/>
          </a:prstGeom>
          <a:noFill/>
          <a:ln/>
        </p:spPr>
        <p:txBody>
          <a:bodyPr wrap="square" lIns="0" tIns="0" rIns="0" bIns="0" rtlCol="0" anchor="t"/>
          <a:lstStyle/>
          <a:p>
            <a:pPr indent="0" marL="0">
              <a:buNone/>
            </a:pPr>
            <a:r>
              <a:rPr lang="en-US" sz="1400" dirty="0">
                <a:solidFill>
                  <a:schemeClr val="tx1"/>
                </a:solidFill>
              </a:rPr>
              <a:t>Payment SUCCEEDED + outbox event in one txn → Kafka → Order CONFIRMED, reservation SOLD, customer notified</a:t>
            </a:r>
            <a:endParaRPr lang="en-US" sz="1400" dirty="0"/>
          </a:p>
        </p:txBody>
      </p:sp>
      <p:sp>
        <p:nvSpPr>
          <p:cNvPr id="8" name="card_77"/>
          <p:cNvSpPr/>
          <p:nvPr/>
        </p:nvSpPr>
        <p:spPr>
          <a:xfrm>
            <a:off x="6172200" y="1371600"/>
            <a:ext cx="5440680" cy="1828800"/>
          </a:xfrm>
          <a:prstGeom prst="roundRect">
            <a:avLst>
              <a:gd name="adj" fmla="val 6000"/>
            </a:avLst>
          </a:prstGeom>
          <a:solidFill>
            <a:schemeClr val="bg2"/>
          </a:solidFill>
          <a:ln w="12700">
            <a:solidFill>
              <a:schemeClr val="bg2"/>
            </a:solidFill>
            <a:prstDash val="solid"/>
          </a:ln>
        </p:spPr>
      </p:sp>
      <p:sp>
        <p:nvSpPr>
          <p:cNvPr id="9" name="badge_78"/>
          <p:cNvSpPr/>
          <p:nvPr/>
        </p:nvSpPr>
        <p:spPr>
          <a:xfrm>
            <a:off x="6400800" y="1600200"/>
            <a:ext cx="457200" cy="457200"/>
          </a:xfrm>
          <a:prstGeom prst="ellipse">
            <a:avLst/>
          </a:prstGeom>
          <a:solidFill>
            <a:schemeClr val="accent2"/>
          </a:solidFill>
          <a:ln w="12700">
            <a:solidFill>
              <a:schemeClr val="accent2"/>
            </a:solidFill>
            <a:prstDash val="solid"/>
          </a:ln>
        </p:spPr>
      </p:sp>
      <p:sp>
        <p:nvSpPr>
          <p:cNvPr id="10" name="badgeText_79"/>
          <p:cNvSpPr txBox="1"/>
          <p:nvPr/>
        </p:nvSpPr>
        <p:spPr>
          <a:xfrm>
            <a:off x="6400800" y="1600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_80"/>
          <p:cNvSpPr txBox="1"/>
          <p:nvPr/>
        </p:nvSpPr>
        <p:spPr>
          <a:xfrm>
            <a:off x="7040880" y="1618488"/>
            <a:ext cx="4389120" cy="411480"/>
          </a:xfrm>
          <a:prstGeom prst="rect">
            <a:avLst/>
          </a:prstGeom>
          <a:noFill/>
          <a:ln/>
        </p:spPr>
        <p:txBody>
          <a:bodyPr wrap="square" lIns="0" tIns="0" rIns="0" bIns="0" rtlCol="0" anchor="t"/>
          <a:lstStyle/>
          <a:p>
            <a:pPr indent="0" marL="0">
              <a:buNone/>
            </a:pPr>
            <a:r>
              <a:rPr lang="en-US" sz="1800" b="1" dirty="0">
                <a:solidFill>
                  <a:schemeClr val="tx2"/>
                </a:solidFill>
              </a:rPr>
              <a:t>Fails (5%)</a:t>
            </a:r>
            <a:endParaRPr lang="en-US" sz="1800" dirty="0"/>
          </a:p>
        </p:txBody>
      </p:sp>
      <p:sp>
        <p:nvSpPr>
          <p:cNvPr id="12" name="text_81"/>
          <p:cNvSpPr txBox="1"/>
          <p:nvPr/>
        </p:nvSpPr>
        <p:spPr>
          <a:xfrm>
            <a:off x="7040880" y="2103120"/>
            <a:ext cx="4389120" cy="1005840"/>
          </a:xfrm>
          <a:prstGeom prst="rect">
            <a:avLst/>
          </a:prstGeom>
          <a:noFill/>
          <a:ln/>
        </p:spPr>
        <p:txBody>
          <a:bodyPr wrap="square" lIns="0" tIns="0" rIns="0" bIns="0" rtlCol="0" anchor="t"/>
          <a:lstStyle/>
          <a:p>
            <a:pPr indent="0" marL="0">
              <a:buNone/>
            </a:pPr>
            <a:r>
              <a:rPr lang="en-US" sz="1400" dirty="0">
                <a:solidFill>
                  <a:schemeClr val="tx1"/>
                </a:solidFill>
              </a:rPr>
              <a:t>Payment FAILED → reservation released (DB + Redis) → next buyer admitted → order CANCELLED</a:t>
            </a:r>
            <a:endParaRPr lang="en-US" sz="1400" dirty="0"/>
          </a:p>
        </p:txBody>
      </p:sp>
      <p:sp>
        <p:nvSpPr>
          <p:cNvPr id="13" name="card_82"/>
          <p:cNvSpPr/>
          <p:nvPr/>
        </p:nvSpPr>
        <p:spPr>
          <a:xfrm>
            <a:off x="548640" y="3383280"/>
            <a:ext cx="5440680" cy="1828800"/>
          </a:xfrm>
          <a:prstGeom prst="roundRect">
            <a:avLst>
              <a:gd name="adj" fmla="val 6000"/>
            </a:avLst>
          </a:prstGeom>
          <a:solidFill>
            <a:schemeClr val="bg2"/>
          </a:solidFill>
          <a:ln w="12700">
            <a:solidFill>
              <a:schemeClr val="bg2"/>
            </a:solidFill>
            <a:prstDash val="solid"/>
          </a:ln>
        </p:spPr>
      </p:sp>
      <p:sp>
        <p:nvSpPr>
          <p:cNvPr id="14" name="badge_83"/>
          <p:cNvSpPr/>
          <p:nvPr/>
        </p:nvSpPr>
        <p:spPr>
          <a:xfrm>
            <a:off x="777240" y="3611880"/>
            <a:ext cx="457200" cy="457200"/>
          </a:xfrm>
          <a:prstGeom prst="ellipse">
            <a:avLst/>
          </a:prstGeom>
          <a:solidFill>
            <a:schemeClr val="accent1"/>
          </a:solidFill>
          <a:ln w="12700">
            <a:solidFill>
              <a:schemeClr val="accent1"/>
            </a:solidFill>
            <a:prstDash val="solid"/>
          </a:ln>
        </p:spPr>
      </p:sp>
      <p:sp>
        <p:nvSpPr>
          <p:cNvPr id="15" name="badgeText_84"/>
          <p:cNvSpPr txBox="1"/>
          <p:nvPr/>
        </p:nvSpPr>
        <p:spPr>
          <a:xfrm>
            <a:off x="777240" y="3611880"/>
            <a:ext cx="457200" cy="457200"/>
          </a:xfrm>
          <a:prstGeom prst="rect">
            <a:avLst/>
          </a:prstGeom>
          <a:noFill/>
          <a:ln/>
        </p:spPr>
        <p:txBody>
          <a:bodyPr wrap="square" lIns="0" tIns="0" rIns="0" bIns="0" rtlCol="0" anchor="ctr"/>
          <a:lstStyle/>
          <a:p>
            <a:pPr algn="ctr" indent="0" marL="0">
              <a:buNone/>
            </a:pPr>
            <a:r>
              <a:rPr lang="en-US" sz="1600" b="1" dirty="0">
                <a:solidFill>
                  <a:schemeClr val="tx2"/>
                </a:solidFill>
              </a:rPr>
              <a:t>3</a:t>
            </a:r>
            <a:endParaRPr lang="en-US" sz="1600" dirty="0"/>
          </a:p>
        </p:txBody>
      </p:sp>
      <p:sp>
        <p:nvSpPr>
          <p:cNvPr id="16" name="text_85"/>
          <p:cNvSpPr txBox="1"/>
          <p:nvPr/>
        </p:nvSpPr>
        <p:spPr>
          <a:xfrm>
            <a:off x="1417320" y="3630168"/>
            <a:ext cx="4389120" cy="411480"/>
          </a:xfrm>
          <a:prstGeom prst="rect">
            <a:avLst/>
          </a:prstGeom>
          <a:noFill/>
          <a:ln/>
        </p:spPr>
        <p:txBody>
          <a:bodyPr wrap="square" lIns="0" tIns="0" rIns="0" bIns="0" rtlCol="0" anchor="t"/>
          <a:lstStyle/>
          <a:p>
            <a:pPr indent="0" marL="0">
              <a:buNone/>
            </a:pPr>
            <a:r>
              <a:rPr lang="en-US" sz="1800" b="1" dirty="0">
                <a:solidFill>
                  <a:schemeClr val="tx2"/>
                </a:solidFill>
              </a:rPr>
              <a:t>Times out</a:t>
            </a:r>
            <a:endParaRPr lang="en-US" sz="1800" dirty="0"/>
          </a:p>
        </p:txBody>
      </p:sp>
      <p:sp>
        <p:nvSpPr>
          <p:cNvPr id="17" name="text_86"/>
          <p:cNvSpPr txBox="1"/>
          <p:nvPr/>
        </p:nvSpPr>
        <p:spPr>
          <a:xfrm>
            <a:off x="1417320" y="4114800"/>
            <a:ext cx="4389120" cy="1005840"/>
          </a:xfrm>
          <a:prstGeom prst="rect">
            <a:avLst/>
          </a:prstGeom>
          <a:noFill/>
          <a:ln/>
        </p:spPr>
        <p:txBody>
          <a:bodyPr wrap="square" lIns="0" tIns="0" rIns="0" bIns="0" rtlCol="0" anchor="t"/>
          <a:lstStyle/>
          <a:p>
            <a:pPr indent="0" marL="0">
              <a:buNone/>
            </a:pPr>
            <a:r>
              <a:rPr lang="en-US" sz="1400" dirty="0">
                <a:solidFill>
                  <a:schemeClr val="tx1"/>
                </a:solidFill>
              </a:rPr>
              <a:t>Outcome unknown → TIMED_OUT; reconciler queries gateway + webhook → resolves to success or failure. Never a blind retry</a:t>
            </a:r>
            <a:endParaRPr lang="en-US" sz="1400" dirty="0"/>
          </a:p>
        </p:txBody>
      </p:sp>
      <p:sp>
        <p:nvSpPr>
          <p:cNvPr id="18" name="card_87"/>
          <p:cNvSpPr/>
          <p:nvPr/>
        </p:nvSpPr>
        <p:spPr>
          <a:xfrm>
            <a:off x="6172200" y="3383280"/>
            <a:ext cx="5440680" cy="1828800"/>
          </a:xfrm>
          <a:prstGeom prst="roundRect">
            <a:avLst>
              <a:gd name="adj" fmla="val 6000"/>
            </a:avLst>
          </a:prstGeom>
          <a:solidFill>
            <a:schemeClr val="bg2"/>
          </a:solidFill>
          <a:ln w="12700">
            <a:solidFill>
              <a:schemeClr val="bg2"/>
            </a:solidFill>
            <a:prstDash val="solid"/>
          </a:ln>
        </p:spPr>
      </p:sp>
      <p:sp>
        <p:nvSpPr>
          <p:cNvPr id="19" name="badge_88"/>
          <p:cNvSpPr/>
          <p:nvPr/>
        </p:nvSpPr>
        <p:spPr>
          <a:xfrm>
            <a:off x="6400800" y="3611880"/>
            <a:ext cx="457200" cy="457200"/>
          </a:xfrm>
          <a:prstGeom prst="ellipse">
            <a:avLst/>
          </a:prstGeom>
          <a:solidFill>
            <a:schemeClr val="accent4"/>
          </a:solidFill>
          <a:ln w="12700">
            <a:solidFill>
              <a:schemeClr val="accent4"/>
            </a:solidFill>
            <a:prstDash val="solid"/>
          </a:ln>
        </p:spPr>
      </p:sp>
      <p:sp>
        <p:nvSpPr>
          <p:cNvPr id="20" name="badgeText_89"/>
          <p:cNvSpPr txBox="1"/>
          <p:nvPr/>
        </p:nvSpPr>
        <p:spPr>
          <a:xfrm>
            <a:off x="6400800" y="36118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text_90"/>
          <p:cNvSpPr txBox="1"/>
          <p:nvPr/>
        </p:nvSpPr>
        <p:spPr>
          <a:xfrm>
            <a:off x="7040880" y="3630168"/>
            <a:ext cx="4389120" cy="411480"/>
          </a:xfrm>
          <a:prstGeom prst="rect">
            <a:avLst/>
          </a:prstGeom>
          <a:noFill/>
          <a:ln/>
        </p:spPr>
        <p:txBody>
          <a:bodyPr wrap="square" lIns="0" tIns="0" rIns="0" bIns="0" rtlCol="0" anchor="t"/>
          <a:lstStyle/>
          <a:p>
            <a:pPr indent="0" marL="0">
              <a:buNone/>
            </a:pPr>
            <a:r>
              <a:rPr lang="en-US" sz="1800" b="1" dirty="0">
                <a:solidFill>
                  <a:schemeClr val="tx2"/>
                </a:solidFill>
              </a:rPr>
              <a:t>Duplicate request (2%)</a:t>
            </a:r>
            <a:endParaRPr lang="en-US" sz="1800" dirty="0"/>
          </a:p>
        </p:txBody>
      </p:sp>
      <p:sp>
        <p:nvSpPr>
          <p:cNvPr id="22" name="text_91"/>
          <p:cNvSpPr txBox="1"/>
          <p:nvPr/>
        </p:nvSpPr>
        <p:spPr>
          <a:xfrm>
            <a:off x="7040880" y="4114800"/>
            <a:ext cx="4389120" cy="1005840"/>
          </a:xfrm>
          <a:prstGeom prst="rect">
            <a:avLst/>
          </a:prstGeom>
          <a:noFill/>
          <a:ln/>
        </p:spPr>
        <p:txBody>
          <a:bodyPr wrap="square" lIns="0" tIns="0" rIns="0" bIns="0" rtlCol="0" anchor="t"/>
          <a:lstStyle/>
          <a:p>
            <a:pPr indent="0" marL="0">
              <a:buNone/>
            </a:pPr>
            <a:r>
              <a:rPr lang="en-US" sz="1400" dirty="0">
                <a:solidFill>
                  <a:schemeClr val="tx1"/>
                </a:solidFill>
              </a:rPr>
              <a:t>Same Idempotency-Key returns the stored payment; gateway gets the same merchant reference → no second charge</a:t>
            </a:r>
            <a:endParaRPr lang="en-US" sz="1400" dirty="0"/>
          </a:p>
        </p:txBody>
      </p:sp>
      <p:sp>
        <p:nvSpPr>
          <p:cNvPr id="23" name="text_92"/>
          <p:cNvSpPr txBox="1"/>
          <p:nvPr/>
        </p:nvSpPr>
        <p:spPr>
          <a:xfrm>
            <a:off x="548640" y="5486400"/>
            <a:ext cx="11064240" cy="640080"/>
          </a:xfrm>
          <a:prstGeom prst="rect">
            <a:avLst/>
          </a:prstGeom>
          <a:noFill/>
          <a:ln/>
        </p:spPr>
        <p:txBody>
          <a:bodyPr wrap="square" lIns="0" tIns="0" rIns="0" bIns="0" rtlCol="0" anchor="t"/>
          <a:lstStyle/>
          <a:p>
            <a:pPr indent="0" marL="0">
              <a:buNone/>
            </a:pPr>
            <a:r>
              <a:rPr lang="en-US" sz="1400" i="1" dirty="0">
                <a:solidFill>
                  <a:schemeClr val="accent4"/>
                </a:solidFill>
              </a:rPr>
              <a:t>Circuit breaker on the gateway (50% failures → open 30 s) · 10 s timeout · secondary provider via Factory + Adapter · reservation held until expiry while the gateway recovers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rPr>
              <a:t>Paid, then Order Service down 30 s: no order lost</a:t>
            </a:r>
            <a:endParaRPr lang="en-US" sz="3200" dirty="0"/>
          </a:p>
        </p:txBody>
      </p:sp>
      <p:sp>
        <p:nvSpPr>
          <p:cNvPr id="3" name="step_93"/>
          <p:cNvSpPr/>
          <p:nvPr/>
        </p:nvSpPr>
        <p:spPr>
          <a:xfrm>
            <a:off x="548640" y="1463040"/>
            <a:ext cx="2057400" cy="2377440"/>
          </a:xfrm>
          <a:prstGeom prst="roundRect">
            <a:avLst>
              <a:gd name="adj" fmla="val 5333"/>
            </a:avLst>
          </a:prstGeom>
          <a:solidFill>
            <a:schemeClr val="tx2"/>
          </a:solidFill>
          <a:ln w="12700">
            <a:solidFill>
              <a:schemeClr val="tx2"/>
            </a:solidFill>
            <a:prstDash val="solid"/>
          </a:ln>
        </p:spPr>
      </p:sp>
      <p:sp>
        <p:nvSpPr>
          <p:cNvPr id="4" name="badge_94"/>
          <p:cNvSpPr/>
          <p:nvPr/>
        </p:nvSpPr>
        <p:spPr>
          <a:xfrm>
            <a:off x="731520" y="1645920"/>
            <a:ext cx="411480" cy="411480"/>
          </a:xfrm>
          <a:prstGeom prst="ellipse">
            <a:avLst/>
          </a:prstGeom>
          <a:solidFill>
            <a:schemeClr val="accent1"/>
          </a:solidFill>
          <a:ln w="12700">
            <a:solidFill>
              <a:schemeClr val="accent1"/>
            </a:solidFill>
            <a:prstDash val="solid"/>
          </a:ln>
        </p:spPr>
      </p:sp>
      <p:sp>
        <p:nvSpPr>
          <p:cNvPr id="5" name="badgeText_95"/>
          <p:cNvSpPr txBox="1"/>
          <p:nvPr/>
        </p:nvSpPr>
        <p:spPr>
          <a:xfrm>
            <a:off x="731520" y="1645920"/>
            <a:ext cx="411480" cy="411480"/>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6" name="text_96"/>
          <p:cNvSpPr txBox="1"/>
          <p:nvPr/>
        </p:nvSpPr>
        <p:spPr>
          <a:xfrm>
            <a:off x="731520" y="2194560"/>
            <a:ext cx="1737360" cy="411480"/>
          </a:xfrm>
          <a:prstGeom prst="rect">
            <a:avLst/>
          </a:prstGeom>
          <a:noFill/>
          <a:ln/>
        </p:spPr>
        <p:txBody>
          <a:bodyPr wrap="square" lIns="0" tIns="0" rIns="0" bIns="0" rtlCol="0" anchor="t"/>
          <a:lstStyle/>
          <a:p>
            <a:pPr indent="0" marL="0">
              <a:buNone/>
            </a:pPr>
            <a:r>
              <a:rPr lang="en-US" sz="1700" b="1" dirty="0">
                <a:solidFill>
                  <a:schemeClr val="bg1"/>
                </a:solidFill>
              </a:rPr>
              <a:t>Atomic write</a:t>
            </a:r>
            <a:endParaRPr lang="en-US" sz="1700" dirty="0"/>
          </a:p>
        </p:txBody>
      </p:sp>
      <p:sp>
        <p:nvSpPr>
          <p:cNvPr id="7" name="text_97"/>
          <p:cNvSpPr txBox="1"/>
          <p:nvPr/>
        </p:nvSpPr>
        <p:spPr>
          <a:xfrm>
            <a:off x="731520" y="2651760"/>
            <a:ext cx="1737360" cy="1097280"/>
          </a:xfrm>
          <a:prstGeom prst="rect">
            <a:avLst/>
          </a:prstGeom>
          <a:noFill/>
          <a:ln/>
        </p:spPr>
        <p:txBody>
          <a:bodyPr wrap="square" lIns="0" tIns="0" rIns="0" bIns="0" rtlCol="0" anchor="t"/>
          <a:lstStyle/>
          <a:p>
            <a:pPr indent="0" marL="0">
              <a:buNone/>
            </a:pPr>
            <a:r>
              <a:rPr lang="en-US" sz="1400" dirty="0">
                <a:solidFill>
                  <a:schemeClr val="bg1"/>
                </a:solidFill>
              </a:rPr>
              <a:t>Payment row + outbox event commit in one local transaction</a:t>
            </a:r>
            <a:endParaRPr lang="en-US" sz="1400" dirty="0"/>
          </a:p>
        </p:txBody>
      </p:sp>
      <p:sp>
        <p:nvSpPr>
          <p:cNvPr id="8" name="arrow_98"/>
          <p:cNvSpPr/>
          <p:nvPr/>
        </p:nvSpPr>
        <p:spPr>
          <a:xfrm>
            <a:off x="2624328" y="2514600"/>
            <a:ext cx="173736" cy="274320"/>
          </a:xfrm>
          <a:prstGeom prst="rightArrow">
            <a:avLst/>
          </a:prstGeom>
          <a:solidFill>
            <a:schemeClr val="accent5"/>
          </a:solidFill>
          <a:ln w="12700">
            <a:solidFill>
              <a:schemeClr val="accent5"/>
            </a:solidFill>
            <a:prstDash val="solid"/>
          </a:ln>
        </p:spPr>
      </p:sp>
      <p:sp>
        <p:nvSpPr>
          <p:cNvPr id="9" name="step_99"/>
          <p:cNvSpPr/>
          <p:nvPr/>
        </p:nvSpPr>
        <p:spPr>
          <a:xfrm>
            <a:off x="2816352" y="1463040"/>
            <a:ext cx="2057400" cy="2377440"/>
          </a:xfrm>
          <a:prstGeom prst="roundRect">
            <a:avLst>
              <a:gd name="adj" fmla="val 5333"/>
            </a:avLst>
          </a:prstGeom>
          <a:solidFill>
            <a:schemeClr val="tx2"/>
          </a:solidFill>
          <a:ln w="12700">
            <a:solidFill>
              <a:schemeClr val="tx2"/>
            </a:solidFill>
            <a:prstDash val="solid"/>
          </a:ln>
        </p:spPr>
      </p:sp>
      <p:sp>
        <p:nvSpPr>
          <p:cNvPr id="10" name="badge_100"/>
          <p:cNvSpPr/>
          <p:nvPr/>
        </p:nvSpPr>
        <p:spPr>
          <a:xfrm>
            <a:off x="2999232" y="1645920"/>
            <a:ext cx="411480" cy="411480"/>
          </a:xfrm>
          <a:prstGeom prst="ellipse">
            <a:avLst/>
          </a:prstGeom>
          <a:solidFill>
            <a:schemeClr val="accent1"/>
          </a:solidFill>
          <a:ln w="12700">
            <a:solidFill>
              <a:schemeClr val="accent1"/>
            </a:solidFill>
            <a:prstDash val="solid"/>
          </a:ln>
        </p:spPr>
      </p:sp>
      <p:sp>
        <p:nvSpPr>
          <p:cNvPr id="11" name="badgeText_101"/>
          <p:cNvSpPr txBox="1"/>
          <p:nvPr/>
        </p:nvSpPr>
        <p:spPr>
          <a:xfrm>
            <a:off x="2999232" y="1645920"/>
            <a:ext cx="411480" cy="411480"/>
          </a:xfrm>
          <a:prstGeom prst="rect">
            <a:avLst/>
          </a:prstGeom>
          <a:noFill/>
          <a:ln/>
        </p:spPr>
        <p:txBody>
          <a:bodyPr wrap="square" lIns="0" tIns="0" rIns="0" bIns="0" rtlCol="0" anchor="ctr"/>
          <a:lstStyle/>
          <a:p>
            <a:pPr algn="ctr" indent="0" marL="0">
              <a:buNone/>
            </a:pPr>
            <a:r>
              <a:rPr lang="en-US" sz="1400" b="1" dirty="0">
                <a:solidFill>
                  <a:schemeClr val="tx2"/>
                </a:solidFill>
              </a:rPr>
              <a:t>2</a:t>
            </a:r>
            <a:endParaRPr lang="en-US" sz="1400" dirty="0"/>
          </a:p>
        </p:txBody>
      </p:sp>
      <p:sp>
        <p:nvSpPr>
          <p:cNvPr id="12" name="text_102"/>
          <p:cNvSpPr txBox="1"/>
          <p:nvPr/>
        </p:nvSpPr>
        <p:spPr>
          <a:xfrm>
            <a:off x="2999232" y="2194560"/>
            <a:ext cx="1737360" cy="411480"/>
          </a:xfrm>
          <a:prstGeom prst="rect">
            <a:avLst/>
          </a:prstGeom>
          <a:noFill/>
          <a:ln/>
        </p:spPr>
        <p:txBody>
          <a:bodyPr wrap="square" lIns="0" tIns="0" rIns="0" bIns="0" rtlCol="0" anchor="t"/>
          <a:lstStyle/>
          <a:p>
            <a:pPr indent="0" marL="0">
              <a:buNone/>
            </a:pPr>
            <a:r>
              <a:rPr lang="en-US" sz="1700" b="1" dirty="0">
                <a:solidFill>
                  <a:schemeClr val="bg1"/>
                </a:solidFill>
              </a:rPr>
              <a:t>Durable event</a:t>
            </a:r>
            <a:endParaRPr lang="en-US" sz="1700" dirty="0"/>
          </a:p>
        </p:txBody>
      </p:sp>
      <p:sp>
        <p:nvSpPr>
          <p:cNvPr id="13" name="text_103"/>
          <p:cNvSpPr txBox="1"/>
          <p:nvPr/>
        </p:nvSpPr>
        <p:spPr>
          <a:xfrm>
            <a:off x="2999232" y="2651760"/>
            <a:ext cx="1737360" cy="1097280"/>
          </a:xfrm>
          <a:prstGeom prst="rect">
            <a:avLst/>
          </a:prstGeom>
          <a:noFill/>
          <a:ln/>
        </p:spPr>
        <p:txBody>
          <a:bodyPr wrap="square" lIns="0" tIns="0" rIns="0" bIns="0" rtlCol="0" anchor="t"/>
          <a:lstStyle/>
          <a:p>
            <a:pPr indent="0" marL="0">
              <a:buNone/>
            </a:pPr>
            <a:r>
              <a:rPr lang="en-US" sz="1400" dirty="0">
                <a:solidFill>
                  <a:schemeClr val="bg1"/>
                </a:solidFill>
              </a:rPr>
              <a:t>Relay publishes to Kafka (RF=3, acks=all)</a:t>
            </a:r>
            <a:endParaRPr lang="en-US" sz="1400" dirty="0"/>
          </a:p>
        </p:txBody>
      </p:sp>
      <p:sp>
        <p:nvSpPr>
          <p:cNvPr id="14" name="arrow_104"/>
          <p:cNvSpPr/>
          <p:nvPr/>
        </p:nvSpPr>
        <p:spPr>
          <a:xfrm>
            <a:off x="4892040" y="2514600"/>
            <a:ext cx="173736" cy="274320"/>
          </a:xfrm>
          <a:prstGeom prst="rightArrow">
            <a:avLst/>
          </a:prstGeom>
          <a:solidFill>
            <a:schemeClr val="accent5"/>
          </a:solidFill>
          <a:ln w="12700">
            <a:solidFill>
              <a:schemeClr val="accent5"/>
            </a:solidFill>
            <a:prstDash val="solid"/>
          </a:ln>
        </p:spPr>
      </p:sp>
      <p:sp>
        <p:nvSpPr>
          <p:cNvPr id="15" name="step_105"/>
          <p:cNvSpPr/>
          <p:nvPr/>
        </p:nvSpPr>
        <p:spPr>
          <a:xfrm>
            <a:off x="5084064" y="1463040"/>
            <a:ext cx="2057400" cy="2377440"/>
          </a:xfrm>
          <a:prstGeom prst="roundRect">
            <a:avLst>
              <a:gd name="adj" fmla="val 5333"/>
            </a:avLst>
          </a:prstGeom>
          <a:solidFill>
            <a:schemeClr val="accent2"/>
          </a:solidFill>
          <a:ln w="12700">
            <a:solidFill>
              <a:schemeClr val="accent2"/>
            </a:solidFill>
            <a:prstDash val="solid"/>
          </a:ln>
        </p:spPr>
      </p:sp>
      <p:sp>
        <p:nvSpPr>
          <p:cNvPr id="16" name="badge_106"/>
          <p:cNvSpPr/>
          <p:nvPr/>
        </p:nvSpPr>
        <p:spPr>
          <a:xfrm>
            <a:off x="5266944" y="1645920"/>
            <a:ext cx="411480" cy="411480"/>
          </a:xfrm>
          <a:prstGeom prst="ellipse">
            <a:avLst/>
          </a:prstGeom>
          <a:solidFill>
            <a:schemeClr val="accent1"/>
          </a:solidFill>
          <a:ln w="12700">
            <a:solidFill>
              <a:schemeClr val="accent1"/>
            </a:solidFill>
            <a:prstDash val="solid"/>
          </a:ln>
        </p:spPr>
      </p:sp>
      <p:sp>
        <p:nvSpPr>
          <p:cNvPr id="17" name="badgeText_107"/>
          <p:cNvSpPr txBox="1"/>
          <p:nvPr/>
        </p:nvSpPr>
        <p:spPr>
          <a:xfrm>
            <a:off x="5266944" y="1645920"/>
            <a:ext cx="411480" cy="411480"/>
          </a:xfrm>
          <a:prstGeom prst="rect">
            <a:avLst/>
          </a:prstGeom>
          <a:noFill/>
          <a:ln/>
        </p:spPr>
        <p:txBody>
          <a:bodyPr wrap="square" lIns="0" tIns="0" rIns="0" bIns="0" rtlCol="0" anchor="ctr"/>
          <a:lstStyle/>
          <a:p>
            <a:pPr algn="ctr" indent="0" marL="0">
              <a:buNone/>
            </a:pPr>
            <a:r>
              <a:rPr lang="en-US" sz="1400" b="1" dirty="0">
                <a:solidFill>
                  <a:schemeClr val="tx2"/>
                </a:solidFill>
              </a:rPr>
              <a:t>3</a:t>
            </a:r>
            <a:endParaRPr lang="en-US" sz="1400" dirty="0"/>
          </a:p>
        </p:txBody>
      </p:sp>
      <p:sp>
        <p:nvSpPr>
          <p:cNvPr id="18" name="text_108"/>
          <p:cNvSpPr txBox="1"/>
          <p:nvPr/>
        </p:nvSpPr>
        <p:spPr>
          <a:xfrm>
            <a:off x="5266944" y="2194560"/>
            <a:ext cx="1737360" cy="411480"/>
          </a:xfrm>
          <a:prstGeom prst="rect">
            <a:avLst/>
          </a:prstGeom>
          <a:noFill/>
          <a:ln/>
        </p:spPr>
        <p:txBody>
          <a:bodyPr wrap="square" lIns="0" tIns="0" rIns="0" bIns="0" rtlCol="0" anchor="t"/>
          <a:lstStyle/>
          <a:p>
            <a:pPr indent="0" marL="0">
              <a:buNone/>
            </a:pPr>
            <a:r>
              <a:rPr lang="en-US" sz="1700" b="1" dirty="0">
                <a:solidFill>
                  <a:schemeClr val="bg1"/>
                </a:solidFill>
              </a:rPr>
              <a:t>Service down</a:t>
            </a:r>
            <a:endParaRPr lang="en-US" sz="1700" dirty="0"/>
          </a:p>
        </p:txBody>
      </p:sp>
      <p:sp>
        <p:nvSpPr>
          <p:cNvPr id="19" name="text_109"/>
          <p:cNvSpPr txBox="1"/>
          <p:nvPr/>
        </p:nvSpPr>
        <p:spPr>
          <a:xfrm>
            <a:off x="5266944" y="2651760"/>
            <a:ext cx="1737360" cy="1097280"/>
          </a:xfrm>
          <a:prstGeom prst="rect">
            <a:avLst/>
          </a:prstGeom>
          <a:noFill/>
          <a:ln/>
        </p:spPr>
        <p:txBody>
          <a:bodyPr wrap="square" lIns="0" tIns="0" rIns="0" bIns="0" rtlCol="0" anchor="t"/>
          <a:lstStyle/>
          <a:p>
            <a:pPr indent="0" marL="0">
              <a:buNone/>
            </a:pPr>
            <a:r>
              <a:rPr lang="en-US" sz="1400" dirty="0">
                <a:solidFill>
                  <a:schemeClr val="bg1"/>
                </a:solidFill>
              </a:rPr>
              <a:t>Offset not committed; event waits safely in Kafka</a:t>
            </a:r>
            <a:endParaRPr lang="en-US" sz="1400" dirty="0"/>
          </a:p>
        </p:txBody>
      </p:sp>
      <p:sp>
        <p:nvSpPr>
          <p:cNvPr id="20" name="arrow_110"/>
          <p:cNvSpPr/>
          <p:nvPr/>
        </p:nvSpPr>
        <p:spPr>
          <a:xfrm>
            <a:off x="7159752" y="2514600"/>
            <a:ext cx="173736" cy="274320"/>
          </a:xfrm>
          <a:prstGeom prst="rightArrow">
            <a:avLst/>
          </a:prstGeom>
          <a:solidFill>
            <a:schemeClr val="accent5"/>
          </a:solidFill>
          <a:ln w="12700">
            <a:solidFill>
              <a:schemeClr val="accent5"/>
            </a:solidFill>
            <a:prstDash val="solid"/>
          </a:ln>
        </p:spPr>
      </p:sp>
      <p:sp>
        <p:nvSpPr>
          <p:cNvPr id="21" name="step_111"/>
          <p:cNvSpPr/>
          <p:nvPr/>
        </p:nvSpPr>
        <p:spPr>
          <a:xfrm>
            <a:off x="7351776" y="1463040"/>
            <a:ext cx="2057400" cy="2377440"/>
          </a:xfrm>
          <a:prstGeom prst="roundRect">
            <a:avLst>
              <a:gd name="adj" fmla="val 5333"/>
            </a:avLst>
          </a:prstGeom>
          <a:solidFill>
            <a:schemeClr val="tx2"/>
          </a:solidFill>
          <a:ln w="12700">
            <a:solidFill>
              <a:schemeClr val="tx2"/>
            </a:solidFill>
            <a:prstDash val="solid"/>
          </a:ln>
        </p:spPr>
      </p:sp>
      <p:sp>
        <p:nvSpPr>
          <p:cNvPr id="22" name="badge_112"/>
          <p:cNvSpPr/>
          <p:nvPr/>
        </p:nvSpPr>
        <p:spPr>
          <a:xfrm>
            <a:off x="7534656" y="1645920"/>
            <a:ext cx="411480" cy="411480"/>
          </a:xfrm>
          <a:prstGeom prst="ellipse">
            <a:avLst/>
          </a:prstGeom>
          <a:solidFill>
            <a:schemeClr val="accent1"/>
          </a:solidFill>
          <a:ln w="12700">
            <a:solidFill>
              <a:schemeClr val="accent1"/>
            </a:solidFill>
            <a:prstDash val="solid"/>
          </a:ln>
        </p:spPr>
      </p:sp>
      <p:sp>
        <p:nvSpPr>
          <p:cNvPr id="23" name="badgeText_113"/>
          <p:cNvSpPr txBox="1"/>
          <p:nvPr/>
        </p:nvSpPr>
        <p:spPr>
          <a:xfrm>
            <a:off x="7534656" y="1645920"/>
            <a:ext cx="411480" cy="411480"/>
          </a:xfrm>
          <a:prstGeom prst="rect">
            <a:avLst/>
          </a:prstGeom>
          <a:noFill/>
          <a:ln/>
        </p:spPr>
        <p:txBody>
          <a:bodyPr wrap="square" lIns="0" tIns="0" rIns="0" bIns="0" rtlCol="0" anchor="ctr"/>
          <a:lstStyle/>
          <a:p>
            <a:pPr algn="ctr" indent="0" marL="0">
              <a:buNone/>
            </a:pPr>
            <a:r>
              <a:rPr lang="en-US" sz="1400" b="1" dirty="0">
                <a:solidFill>
                  <a:schemeClr val="tx2"/>
                </a:solidFill>
              </a:rPr>
              <a:t>4</a:t>
            </a:r>
            <a:endParaRPr lang="en-US" sz="1400" dirty="0"/>
          </a:p>
        </p:txBody>
      </p:sp>
      <p:sp>
        <p:nvSpPr>
          <p:cNvPr id="24" name="text_114"/>
          <p:cNvSpPr txBox="1"/>
          <p:nvPr/>
        </p:nvSpPr>
        <p:spPr>
          <a:xfrm>
            <a:off x="7534656" y="2194560"/>
            <a:ext cx="1737360" cy="411480"/>
          </a:xfrm>
          <a:prstGeom prst="rect">
            <a:avLst/>
          </a:prstGeom>
          <a:noFill/>
          <a:ln/>
        </p:spPr>
        <p:txBody>
          <a:bodyPr wrap="square" lIns="0" tIns="0" rIns="0" bIns="0" rtlCol="0" anchor="t"/>
          <a:lstStyle/>
          <a:p>
            <a:pPr indent="0" marL="0">
              <a:buNone/>
            </a:pPr>
            <a:r>
              <a:rPr lang="en-US" sz="1700" b="1" dirty="0">
                <a:solidFill>
                  <a:schemeClr val="bg1"/>
                </a:solidFill>
              </a:rPr>
              <a:t>Recovery</a:t>
            </a:r>
            <a:endParaRPr lang="en-US" sz="1700" dirty="0"/>
          </a:p>
        </p:txBody>
      </p:sp>
      <p:sp>
        <p:nvSpPr>
          <p:cNvPr id="25" name="text_115"/>
          <p:cNvSpPr txBox="1"/>
          <p:nvPr/>
        </p:nvSpPr>
        <p:spPr>
          <a:xfrm>
            <a:off x="7534656" y="2651760"/>
            <a:ext cx="1737360" cy="1097280"/>
          </a:xfrm>
          <a:prstGeom prst="rect">
            <a:avLst/>
          </a:prstGeom>
          <a:noFill/>
          <a:ln/>
        </p:spPr>
        <p:txBody>
          <a:bodyPr wrap="square" lIns="0" tIns="0" rIns="0" bIns="0" rtlCol="0" anchor="t"/>
          <a:lstStyle/>
          <a:p>
            <a:pPr indent="0" marL="0">
              <a:buNone/>
            </a:pPr>
            <a:r>
              <a:rPr lang="en-US" sz="1400" dirty="0">
                <a:solidFill>
                  <a:schemeClr val="bg1"/>
                </a:solidFill>
              </a:rPr>
              <a:t>Redelivered; deduped by event_id; order → CONFIRMED</a:t>
            </a:r>
            <a:endParaRPr lang="en-US" sz="1400" dirty="0"/>
          </a:p>
        </p:txBody>
      </p:sp>
      <p:sp>
        <p:nvSpPr>
          <p:cNvPr id="26" name="arrow_116"/>
          <p:cNvSpPr/>
          <p:nvPr/>
        </p:nvSpPr>
        <p:spPr>
          <a:xfrm>
            <a:off x="9427464" y="2514600"/>
            <a:ext cx="173736" cy="274320"/>
          </a:xfrm>
          <a:prstGeom prst="rightArrow">
            <a:avLst/>
          </a:prstGeom>
          <a:solidFill>
            <a:schemeClr val="accent5"/>
          </a:solidFill>
          <a:ln w="12700">
            <a:solidFill>
              <a:schemeClr val="accent5"/>
            </a:solidFill>
            <a:prstDash val="solid"/>
          </a:ln>
        </p:spPr>
      </p:sp>
      <p:sp>
        <p:nvSpPr>
          <p:cNvPr id="27" name="step_117"/>
          <p:cNvSpPr/>
          <p:nvPr/>
        </p:nvSpPr>
        <p:spPr>
          <a:xfrm>
            <a:off x="9619488" y="1463040"/>
            <a:ext cx="2057400" cy="2377440"/>
          </a:xfrm>
          <a:prstGeom prst="roundRect">
            <a:avLst>
              <a:gd name="adj" fmla="val 5333"/>
            </a:avLst>
          </a:prstGeom>
          <a:solidFill>
            <a:schemeClr val="accent4"/>
          </a:solidFill>
          <a:ln w="12700">
            <a:solidFill>
              <a:schemeClr val="accent4"/>
            </a:solidFill>
            <a:prstDash val="solid"/>
          </a:ln>
        </p:spPr>
      </p:sp>
      <p:sp>
        <p:nvSpPr>
          <p:cNvPr id="28" name="badge_118"/>
          <p:cNvSpPr/>
          <p:nvPr/>
        </p:nvSpPr>
        <p:spPr>
          <a:xfrm>
            <a:off x="9802368" y="1645920"/>
            <a:ext cx="411480" cy="411480"/>
          </a:xfrm>
          <a:prstGeom prst="ellipse">
            <a:avLst/>
          </a:prstGeom>
          <a:solidFill>
            <a:schemeClr val="accent1"/>
          </a:solidFill>
          <a:ln w="12700">
            <a:solidFill>
              <a:schemeClr val="accent1"/>
            </a:solidFill>
            <a:prstDash val="solid"/>
          </a:ln>
        </p:spPr>
      </p:sp>
      <p:sp>
        <p:nvSpPr>
          <p:cNvPr id="29" name="badgeText_119"/>
          <p:cNvSpPr txBox="1"/>
          <p:nvPr/>
        </p:nvSpPr>
        <p:spPr>
          <a:xfrm>
            <a:off x="9802368" y="1645920"/>
            <a:ext cx="411480" cy="411480"/>
          </a:xfrm>
          <a:prstGeom prst="rect">
            <a:avLst/>
          </a:prstGeom>
          <a:noFill/>
          <a:ln/>
        </p:spPr>
        <p:txBody>
          <a:bodyPr wrap="square" lIns="0" tIns="0" rIns="0" bIns="0" rtlCol="0" anchor="ctr"/>
          <a:lstStyle/>
          <a:p>
            <a:pPr algn="ctr" indent="0" marL="0">
              <a:buNone/>
            </a:pPr>
            <a:r>
              <a:rPr lang="en-US" sz="1400" b="1" dirty="0">
                <a:solidFill>
                  <a:schemeClr val="tx2"/>
                </a:solidFill>
              </a:rPr>
              <a:t>5</a:t>
            </a:r>
            <a:endParaRPr lang="en-US" sz="1400" dirty="0"/>
          </a:p>
        </p:txBody>
      </p:sp>
      <p:sp>
        <p:nvSpPr>
          <p:cNvPr id="30" name="text_120"/>
          <p:cNvSpPr txBox="1"/>
          <p:nvPr/>
        </p:nvSpPr>
        <p:spPr>
          <a:xfrm>
            <a:off x="9802368" y="2194560"/>
            <a:ext cx="1737360" cy="411480"/>
          </a:xfrm>
          <a:prstGeom prst="rect">
            <a:avLst/>
          </a:prstGeom>
          <a:noFill/>
          <a:ln/>
        </p:spPr>
        <p:txBody>
          <a:bodyPr wrap="square" lIns="0" tIns="0" rIns="0" bIns="0" rtlCol="0" anchor="t"/>
          <a:lstStyle/>
          <a:p>
            <a:pPr indent="0" marL="0">
              <a:buNone/>
            </a:pPr>
            <a:r>
              <a:rPr lang="en-US" sz="1700" b="1" dirty="0">
                <a:solidFill>
                  <a:schemeClr val="bg1"/>
                </a:solidFill>
              </a:rPr>
              <a:t>Safety net</a:t>
            </a:r>
            <a:endParaRPr lang="en-US" sz="1700" dirty="0"/>
          </a:p>
        </p:txBody>
      </p:sp>
      <p:sp>
        <p:nvSpPr>
          <p:cNvPr id="31" name="text_121"/>
          <p:cNvSpPr txBox="1"/>
          <p:nvPr/>
        </p:nvSpPr>
        <p:spPr>
          <a:xfrm>
            <a:off x="9802368" y="2651760"/>
            <a:ext cx="1737360" cy="1097280"/>
          </a:xfrm>
          <a:prstGeom prst="rect">
            <a:avLst/>
          </a:prstGeom>
          <a:noFill/>
          <a:ln/>
        </p:spPr>
        <p:txBody>
          <a:bodyPr wrap="square" lIns="0" tIns="0" rIns="0" bIns="0" rtlCol="0" anchor="t"/>
          <a:lstStyle/>
          <a:p>
            <a:pPr indent="0" marL="0">
              <a:buNone/>
            </a:pPr>
            <a:r>
              <a:rPr lang="en-US" sz="1400" dirty="0">
                <a:solidFill>
                  <a:schemeClr val="bg1"/>
                </a:solidFill>
              </a:rPr>
              <a:t>5 retries → DLQ + alert; reconciler re-drives or refunds</a:t>
            </a:r>
            <a:endParaRPr lang="en-US" sz="1400" dirty="0"/>
          </a:p>
        </p:txBody>
      </p:sp>
      <p:sp>
        <p:nvSpPr>
          <p:cNvPr id="32" name="text_122"/>
          <p:cNvSpPr txBox="1"/>
          <p:nvPr/>
        </p:nvSpPr>
        <p:spPr>
          <a:xfrm>
            <a:off x="548640" y="4160520"/>
            <a:ext cx="3657600" cy="365760"/>
          </a:xfrm>
          <a:prstGeom prst="rect">
            <a:avLst/>
          </a:prstGeom>
          <a:noFill/>
          <a:ln/>
        </p:spPr>
        <p:txBody>
          <a:bodyPr wrap="square" lIns="0" tIns="0" rIns="0" bIns="0" rtlCol="0" anchor="t"/>
          <a:lstStyle/>
          <a:p>
            <a:pPr indent="0" marL="0">
              <a:buNone/>
            </a:pPr>
            <a:r>
              <a:rPr lang="en-US" sz="1800" b="1" dirty="0">
                <a:solidFill>
                  <a:schemeClr val="tx2"/>
                </a:solidFill>
              </a:rPr>
              <a:t>Lifecycles</a:t>
            </a:r>
            <a:endParaRPr lang="en-US" sz="1800" dirty="0"/>
          </a:p>
        </p:txBody>
      </p:sp>
      <p:sp>
        <p:nvSpPr>
          <p:cNvPr id="33" name="text_123"/>
          <p:cNvSpPr txBox="1"/>
          <p:nvPr/>
        </p:nvSpPr>
        <p:spPr>
          <a:xfrm>
            <a:off x="548640" y="4572000"/>
            <a:ext cx="1463040" cy="411480"/>
          </a:xfrm>
          <a:prstGeom prst="rect">
            <a:avLst/>
          </a:prstGeom>
          <a:noFill/>
          <a:ln/>
        </p:spPr>
        <p:txBody>
          <a:bodyPr wrap="square" lIns="0" tIns="0" rIns="0" bIns="0" rtlCol="0" anchor="ctr"/>
          <a:lstStyle/>
          <a:p>
            <a:pPr indent="0" marL="0">
              <a:buNone/>
            </a:pPr>
            <a:r>
              <a:rPr lang="en-US" sz="1400" b="1" dirty="0">
                <a:solidFill>
                  <a:schemeClr val="accent4"/>
                </a:solidFill>
              </a:rPr>
              <a:t>Reservation</a:t>
            </a:r>
            <a:endParaRPr lang="en-US" sz="1400" dirty="0"/>
          </a:p>
        </p:txBody>
      </p:sp>
      <p:sp>
        <p:nvSpPr>
          <p:cNvPr id="34" name="card_124"/>
          <p:cNvSpPr/>
          <p:nvPr/>
        </p:nvSpPr>
        <p:spPr>
          <a:xfrm>
            <a:off x="2011680" y="4572000"/>
            <a:ext cx="1065276" cy="411480"/>
          </a:xfrm>
          <a:prstGeom prst="roundRect">
            <a:avLst>
              <a:gd name="adj" fmla="val 26667"/>
            </a:avLst>
          </a:prstGeom>
          <a:solidFill>
            <a:schemeClr val="bg2"/>
          </a:solidFill>
          <a:ln w="12700">
            <a:solidFill>
              <a:schemeClr val="bg2"/>
            </a:solidFill>
            <a:prstDash val="solid"/>
          </a:ln>
        </p:spPr>
      </p:sp>
      <p:sp>
        <p:nvSpPr>
          <p:cNvPr id="35" name="text_125"/>
          <p:cNvSpPr txBox="1"/>
          <p:nvPr/>
        </p:nvSpPr>
        <p:spPr>
          <a:xfrm>
            <a:off x="2011680" y="4572000"/>
            <a:ext cx="1065276" cy="411480"/>
          </a:xfrm>
          <a:prstGeom prst="rect">
            <a:avLst/>
          </a:prstGeom>
          <a:noFill/>
          <a:ln/>
        </p:spPr>
        <p:txBody>
          <a:bodyPr wrap="square" lIns="0" tIns="0" rIns="0" bIns="0" rtlCol="0" anchor="ctr"/>
          <a:lstStyle/>
          <a:p>
            <a:pPr algn="ctr" indent="0" marL="0">
              <a:buNone/>
            </a:pPr>
            <a:r>
              <a:rPr lang="en-US" sz="1200" b="1" dirty="0">
                <a:solidFill>
                  <a:schemeClr val="tx2"/>
                </a:solidFill>
              </a:rPr>
              <a:t>AVAILABLE</a:t>
            </a:r>
            <a:endParaRPr lang="en-US" sz="1200" dirty="0"/>
          </a:p>
        </p:txBody>
      </p:sp>
      <p:sp>
        <p:nvSpPr>
          <p:cNvPr id="36" name="card_126"/>
          <p:cNvSpPr/>
          <p:nvPr/>
        </p:nvSpPr>
        <p:spPr>
          <a:xfrm>
            <a:off x="3186684" y="4572000"/>
            <a:ext cx="969264" cy="411480"/>
          </a:xfrm>
          <a:prstGeom prst="roundRect">
            <a:avLst>
              <a:gd name="adj" fmla="val 26667"/>
            </a:avLst>
          </a:prstGeom>
          <a:solidFill>
            <a:schemeClr val="bg2"/>
          </a:solidFill>
          <a:ln w="12700">
            <a:solidFill>
              <a:schemeClr val="bg2"/>
            </a:solidFill>
            <a:prstDash val="solid"/>
          </a:ln>
        </p:spPr>
      </p:sp>
      <p:sp>
        <p:nvSpPr>
          <p:cNvPr id="37" name="text_127"/>
          <p:cNvSpPr txBox="1"/>
          <p:nvPr/>
        </p:nvSpPr>
        <p:spPr>
          <a:xfrm>
            <a:off x="3186684" y="4572000"/>
            <a:ext cx="969264" cy="411480"/>
          </a:xfrm>
          <a:prstGeom prst="rect">
            <a:avLst/>
          </a:prstGeom>
          <a:noFill/>
          <a:ln/>
        </p:spPr>
        <p:txBody>
          <a:bodyPr wrap="square" lIns="0" tIns="0" rIns="0" bIns="0" rtlCol="0" anchor="ctr"/>
          <a:lstStyle/>
          <a:p>
            <a:pPr algn="ctr" indent="0" marL="0">
              <a:buNone/>
            </a:pPr>
            <a:r>
              <a:rPr lang="en-US" sz="1200" b="1" dirty="0">
                <a:solidFill>
                  <a:schemeClr val="tx2"/>
                </a:solidFill>
              </a:rPr>
              <a:t>RESERVED</a:t>
            </a:r>
            <a:endParaRPr lang="en-US" sz="1200" dirty="0"/>
          </a:p>
        </p:txBody>
      </p:sp>
      <p:sp>
        <p:nvSpPr>
          <p:cNvPr id="38" name="card_128"/>
          <p:cNvSpPr/>
          <p:nvPr/>
        </p:nvSpPr>
        <p:spPr>
          <a:xfrm>
            <a:off x="4265676" y="4572000"/>
            <a:ext cx="1641348" cy="411480"/>
          </a:xfrm>
          <a:prstGeom prst="roundRect">
            <a:avLst>
              <a:gd name="adj" fmla="val 26667"/>
            </a:avLst>
          </a:prstGeom>
          <a:solidFill>
            <a:schemeClr val="bg2"/>
          </a:solidFill>
          <a:ln w="12700">
            <a:solidFill>
              <a:schemeClr val="bg2"/>
            </a:solidFill>
            <a:prstDash val="solid"/>
          </a:ln>
        </p:spPr>
      </p:sp>
      <p:sp>
        <p:nvSpPr>
          <p:cNvPr id="39" name="text_129"/>
          <p:cNvSpPr txBox="1"/>
          <p:nvPr/>
        </p:nvSpPr>
        <p:spPr>
          <a:xfrm>
            <a:off x="4265676" y="4572000"/>
            <a:ext cx="1641348" cy="411480"/>
          </a:xfrm>
          <a:prstGeom prst="rect">
            <a:avLst/>
          </a:prstGeom>
          <a:noFill/>
          <a:ln/>
        </p:spPr>
        <p:txBody>
          <a:bodyPr wrap="square" lIns="0" tIns="0" rIns="0" bIns="0" rtlCol="0" anchor="ctr"/>
          <a:lstStyle/>
          <a:p>
            <a:pPr algn="ctr" indent="0" marL="0">
              <a:buNone/>
            </a:pPr>
            <a:r>
              <a:rPr lang="en-US" sz="1200" b="1" dirty="0">
                <a:solidFill>
                  <a:schemeClr val="tx2"/>
                </a:solidFill>
              </a:rPr>
              <a:t>PAYMENT_PENDING</a:t>
            </a:r>
            <a:endParaRPr lang="en-US" sz="1200" dirty="0"/>
          </a:p>
        </p:txBody>
      </p:sp>
      <p:sp>
        <p:nvSpPr>
          <p:cNvPr id="40" name="card_130"/>
          <p:cNvSpPr/>
          <p:nvPr/>
        </p:nvSpPr>
        <p:spPr>
          <a:xfrm>
            <a:off x="6016752" y="4572000"/>
            <a:ext cx="1065276" cy="411480"/>
          </a:xfrm>
          <a:prstGeom prst="roundRect">
            <a:avLst>
              <a:gd name="adj" fmla="val 26667"/>
            </a:avLst>
          </a:prstGeom>
          <a:solidFill>
            <a:schemeClr val="bg2"/>
          </a:solidFill>
          <a:ln w="12700">
            <a:solidFill>
              <a:schemeClr val="bg2"/>
            </a:solidFill>
            <a:prstDash val="solid"/>
          </a:ln>
        </p:spPr>
      </p:sp>
      <p:sp>
        <p:nvSpPr>
          <p:cNvPr id="41" name="text_131"/>
          <p:cNvSpPr txBox="1"/>
          <p:nvPr/>
        </p:nvSpPr>
        <p:spPr>
          <a:xfrm>
            <a:off x="6016752" y="4572000"/>
            <a:ext cx="1065276" cy="411480"/>
          </a:xfrm>
          <a:prstGeom prst="rect">
            <a:avLst/>
          </a:prstGeom>
          <a:noFill/>
          <a:ln/>
        </p:spPr>
        <p:txBody>
          <a:bodyPr wrap="square" lIns="0" tIns="0" rIns="0" bIns="0" rtlCol="0" anchor="ctr"/>
          <a:lstStyle/>
          <a:p>
            <a:pPr algn="ctr" indent="0" marL="0">
              <a:buNone/>
            </a:pPr>
            <a:r>
              <a:rPr lang="en-US" sz="1200" b="1" dirty="0">
                <a:solidFill>
                  <a:schemeClr val="tx2"/>
                </a:solidFill>
              </a:rPr>
              <a:t>CONFIRMED</a:t>
            </a:r>
            <a:endParaRPr lang="en-US" sz="1200" dirty="0"/>
          </a:p>
        </p:txBody>
      </p:sp>
      <p:sp>
        <p:nvSpPr>
          <p:cNvPr id="42" name="card_132"/>
          <p:cNvSpPr/>
          <p:nvPr/>
        </p:nvSpPr>
        <p:spPr>
          <a:xfrm>
            <a:off x="7191756" y="4572000"/>
            <a:ext cx="585216" cy="411480"/>
          </a:xfrm>
          <a:prstGeom prst="roundRect">
            <a:avLst>
              <a:gd name="adj" fmla="val 26667"/>
            </a:avLst>
          </a:prstGeom>
          <a:solidFill>
            <a:schemeClr val="bg2"/>
          </a:solidFill>
          <a:ln w="12700">
            <a:solidFill>
              <a:schemeClr val="bg2"/>
            </a:solidFill>
            <a:prstDash val="solid"/>
          </a:ln>
        </p:spPr>
      </p:sp>
      <p:sp>
        <p:nvSpPr>
          <p:cNvPr id="43" name="text_133"/>
          <p:cNvSpPr txBox="1"/>
          <p:nvPr/>
        </p:nvSpPr>
        <p:spPr>
          <a:xfrm>
            <a:off x="7191756" y="4572000"/>
            <a:ext cx="585216" cy="411480"/>
          </a:xfrm>
          <a:prstGeom prst="rect">
            <a:avLst/>
          </a:prstGeom>
          <a:noFill/>
          <a:ln/>
        </p:spPr>
        <p:txBody>
          <a:bodyPr wrap="square" lIns="0" tIns="0" rIns="0" bIns="0" rtlCol="0" anchor="ctr"/>
          <a:lstStyle/>
          <a:p>
            <a:pPr algn="ctr" indent="0" marL="0">
              <a:buNone/>
            </a:pPr>
            <a:r>
              <a:rPr lang="en-US" sz="1200" b="1" dirty="0">
                <a:solidFill>
                  <a:schemeClr val="tx2"/>
                </a:solidFill>
              </a:rPr>
              <a:t>SOLD</a:t>
            </a:r>
            <a:endParaRPr lang="en-US" sz="1200" dirty="0"/>
          </a:p>
        </p:txBody>
      </p:sp>
      <p:sp>
        <p:nvSpPr>
          <p:cNvPr id="44" name="text_134"/>
          <p:cNvSpPr txBox="1"/>
          <p:nvPr/>
        </p:nvSpPr>
        <p:spPr>
          <a:xfrm>
            <a:off x="2011680" y="5029200"/>
            <a:ext cx="9601200" cy="320040"/>
          </a:xfrm>
          <a:prstGeom prst="rect">
            <a:avLst/>
          </a:prstGeom>
          <a:noFill/>
          <a:ln/>
        </p:spPr>
        <p:txBody>
          <a:bodyPr wrap="square" lIns="0" tIns="0" rIns="0" bIns="0" rtlCol="0" anchor="t"/>
          <a:lstStyle/>
          <a:p>
            <a:pPr indent="0" marL="0">
              <a:buNone/>
            </a:pPr>
            <a:r>
              <a:rPr lang="en-US" sz="1300" dirty="0">
                <a:solidFill>
                  <a:schemeClr val="accent2"/>
                </a:solidFill>
              </a:rPr>
              <a:t>Failure paths: PAYMENT_FAILED → RELEASED · TIMEOUT (10 min) → RELEASED → back to AVAILABLE</a:t>
            </a:r>
            <a:endParaRPr lang="en-US" sz="1300" dirty="0"/>
          </a:p>
        </p:txBody>
      </p:sp>
      <p:sp>
        <p:nvSpPr>
          <p:cNvPr id="45" name="text_135"/>
          <p:cNvSpPr txBox="1"/>
          <p:nvPr/>
        </p:nvSpPr>
        <p:spPr>
          <a:xfrm>
            <a:off x="548640" y="5440680"/>
            <a:ext cx="1463040" cy="411480"/>
          </a:xfrm>
          <a:prstGeom prst="rect">
            <a:avLst/>
          </a:prstGeom>
          <a:noFill/>
          <a:ln/>
        </p:spPr>
        <p:txBody>
          <a:bodyPr wrap="square" lIns="0" tIns="0" rIns="0" bIns="0" rtlCol="0" anchor="ctr"/>
          <a:lstStyle/>
          <a:p>
            <a:pPr indent="0" marL="0">
              <a:buNone/>
            </a:pPr>
            <a:r>
              <a:rPr lang="en-US" sz="1400" b="1" dirty="0">
                <a:solidFill>
                  <a:schemeClr val="accent4"/>
                </a:solidFill>
              </a:rPr>
              <a:t>Order</a:t>
            </a:r>
            <a:endParaRPr lang="en-US" sz="1400" dirty="0"/>
          </a:p>
        </p:txBody>
      </p:sp>
      <p:sp>
        <p:nvSpPr>
          <p:cNvPr id="46" name="card_136"/>
          <p:cNvSpPr/>
          <p:nvPr/>
        </p:nvSpPr>
        <p:spPr>
          <a:xfrm>
            <a:off x="2011680" y="5440680"/>
            <a:ext cx="873252" cy="411480"/>
          </a:xfrm>
          <a:prstGeom prst="roundRect">
            <a:avLst>
              <a:gd name="adj" fmla="val 26667"/>
            </a:avLst>
          </a:prstGeom>
          <a:solidFill>
            <a:schemeClr val="bg2"/>
          </a:solidFill>
          <a:ln w="12700">
            <a:solidFill>
              <a:schemeClr val="bg2"/>
            </a:solidFill>
            <a:prstDash val="solid"/>
          </a:ln>
        </p:spPr>
      </p:sp>
      <p:sp>
        <p:nvSpPr>
          <p:cNvPr id="47" name="text_137"/>
          <p:cNvSpPr txBox="1"/>
          <p:nvPr/>
        </p:nvSpPr>
        <p:spPr>
          <a:xfrm>
            <a:off x="2011680" y="5440680"/>
            <a:ext cx="873252" cy="411480"/>
          </a:xfrm>
          <a:prstGeom prst="rect">
            <a:avLst/>
          </a:prstGeom>
          <a:noFill/>
          <a:ln/>
        </p:spPr>
        <p:txBody>
          <a:bodyPr wrap="square" lIns="0" tIns="0" rIns="0" bIns="0" rtlCol="0" anchor="ctr"/>
          <a:lstStyle/>
          <a:p>
            <a:pPr algn="ctr" indent="0" marL="0">
              <a:buNone/>
            </a:pPr>
            <a:r>
              <a:rPr lang="en-US" sz="1200" b="1" dirty="0">
                <a:solidFill>
                  <a:schemeClr val="tx2"/>
                </a:solidFill>
              </a:rPr>
              <a:t>CREATED</a:t>
            </a:r>
            <a:endParaRPr lang="en-US" sz="1200" dirty="0"/>
          </a:p>
        </p:txBody>
      </p:sp>
      <p:sp>
        <p:nvSpPr>
          <p:cNvPr id="48" name="card_138"/>
          <p:cNvSpPr/>
          <p:nvPr/>
        </p:nvSpPr>
        <p:spPr>
          <a:xfrm>
            <a:off x="2994660" y="5440680"/>
            <a:ext cx="1641348" cy="411480"/>
          </a:xfrm>
          <a:prstGeom prst="roundRect">
            <a:avLst>
              <a:gd name="adj" fmla="val 26667"/>
            </a:avLst>
          </a:prstGeom>
          <a:solidFill>
            <a:schemeClr val="bg2"/>
          </a:solidFill>
          <a:ln w="12700">
            <a:solidFill>
              <a:schemeClr val="bg2"/>
            </a:solidFill>
            <a:prstDash val="solid"/>
          </a:ln>
        </p:spPr>
      </p:sp>
      <p:sp>
        <p:nvSpPr>
          <p:cNvPr id="49" name="text_139"/>
          <p:cNvSpPr txBox="1"/>
          <p:nvPr/>
        </p:nvSpPr>
        <p:spPr>
          <a:xfrm>
            <a:off x="2994660" y="5440680"/>
            <a:ext cx="1641348" cy="411480"/>
          </a:xfrm>
          <a:prstGeom prst="rect">
            <a:avLst/>
          </a:prstGeom>
          <a:noFill/>
          <a:ln/>
        </p:spPr>
        <p:txBody>
          <a:bodyPr wrap="square" lIns="0" tIns="0" rIns="0" bIns="0" rtlCol="0" anchor="ctr"/>
          <a:lstStyle/>
          <a:p>
            <a:pPr algn="ctr" indent="0" marL="0">
              <a:buNone/>
            </a:pPr>
            <a:r>
              <a:rPr lang="en-US" sz="1200" b="1" dirty="0">
                <a:solidFill>
                  <a:schemeClr val="tx2"/>
                </a:solidFill>
              </a:rPr>
              <a:t>PAYMENT_PENDING</a:t>
            </a:r>
            <a:endParaRPr lang="en-US" sz="1200" dirty="0"/>
          </a:p>
        </p:txBody>
      </p:sp>
      <p:sp>
        <p:nvSpPr>
          <p:cNvPr id="50" name="card_140"/>
          <p:cNvSpPr/>
          <p:nvPr/>
        </p:nvSpPr>
        <p:spPr>
          <a:xfrm>
            <a:off x="4745736" y="5440680"/>
            <a:ext cx="1065276" cy="411480"/>
          </a:xfrm>
          <a:prstGeom prst="roundRect">
            <a:avLst>
              <a:gd name="adj" fmla="val 26667"/>
            </a:avLst>
          </a:prstGeom>
          <a:solidFill>
            <a:schemeClr val="bg2"/>
          </a:solidFill>
          <a:ln w="12700">
            <a:solidFill>
              <a:schemeClr val="bg2"/>
            </a:solidFill>
            <a:prstDash val="solid"/>
          </a:ln>
        </p:spPr>
      </p:sp>
      <p:sp>
        <p:nvSpPr>
          <p:cNvPr id="51" name="text_141"/>
          <p:cNvSpPr txBox="1"/>
          <p:nvPr/>
        </p:nvSpPr>
        <p:spPr>
          <a:xfrm>
            <a:off x="4745736" y="5440680"/>
            <a:ext cx="1065276" cy="411480"/>
          </a:xfrm>
          <a:prstGeom prst="rect">
            <a:avLst/>
          </a:prstGeom>
          <a:noFill/>
          <a:ln/>
        </p:spPr>
        <p:txBody>
          <a:bodyPr wrap="square" lIns="0" tIns="0" rIns="0" bIns="0" rtlCol="0" anchor="ctr"/>
          <a:lstStyle/>
          <a:p>
            <a:pPr algn="ctr" indent="0" marL="0">
              <a:buNone/>
            </a:pPr>
            <a:r>
              <a:rPr lang="en-US" sz="1200" b="1" dirty="0">
                <a:solidFill>
                  <a:schemeClr val="tx2"/>
                </a:solidFill>
              </a:rPr>
              <a:t>CONFIRMED</a:t>
            </a:r>
            <a:endParaRPr lang="en-US" sz="1200" dirty="0"/>
          </a:p>
        </p:txBody>
      </p:sp>
      <p:sp>
        <p:nvSpPr>
          <p:cNvPr id="52" name="card_142"/>
          <p:cNvSpPr/>
          <p:nvPr/>
        </p:nvSpPr>
        <p:spPr>
          <a:xfrm>
            <a:off x="5920740" y="5440680"/>
            <a:ext cx="1161288" cy="411480"/>
          </a:xfrm>
          <a:prstGeom prst="roundRect">
            <a:avLst>
              <a:gd name="adj" fmla="val 26667"/>
            </a:avLst>
          </a:prstGeom>
          <a:solidFill>
            <a:schemeClr val="bg2"/>
          </a:solidFill>
          <a:ln w="12700">
            <a:solidFill>
              <a:schemeClr val="bg2"/>
            </a:solidFill>
            <a:prstDash val="solid"/>
          </a:ln>
        </p:spPr>
      </p:sp>
      <p:sp>
        <p:nvSpPr>
          <p:cNvPr id="53" name="text_143"/>
          <p:cNvSpPr txBox="1"/>
          <p:nvPr/>
        </p:nvSpPr>
        <p:spPr>
          <a:xfrm>
            <a:off x="5920740" y="5440680"/>
            <a:ext cx="1161288" cy="411480"/>
          </a:xfrm>
          <a:prstGeom prst="rect">
            <a:avLst/>
          </a:prstGeom>
          <a:noFill/>
          <a:ln/>
        </p:spPr>
        <p:txBody>
          <a:bodyPr wrap="square" lIns="0" tIns="0" rIns="0" bIns="0" rtlCol="0" anchor="ctr"/>
          <a:lstStyle/>
          <a:p>
            <a:pPr algn="ctr" indent="0" marL="0">
              <a:buNone/>
            </a:pPr>
            <a:r>
              <a:rPr lang="en-US" sz="1200" b="1" dirty="0">
                <a:solidFill>
                  <a:schemeClr val="tx2"/>
                </a:solidFill>
              </a:rPr>
              <a:t>PROCESSING</a:t>
            </a:r>
            <a:endParaRPr lang="en-US" sz="1200" dirty="0"/>
          </a:p>
        </p:txBody>
      </p:sp>
      <p:sp>
        <p:nvSpPr>
          <p:cNvPr id="54" name="card_144"/>
          <p:cNvSpPr/>
          <p:nvPr/>
        </p:nvSpPr>
        <p:spPr>
          <a:xfrm>
            <a:off x="7191756" y="5440680"/>
            <a:ext cx="873252" cy="411480"/>
          </a:xfrm>
          <a:prstGeom prst="roundRect">
            <a:avLst>
              <a:gd name="adj" fmla="val 26667"/>
            </a:avLst>
          </a:prstGeom>
          <a:solidFill>
            <a:schemeClr val="bg2"/>
          </a:solidFill>
          <a:ln w="12700">
            <a:solidFill>
              <a:schemeClr val="bg2"/>
            </a:solidFill>
            <a:prstDash val="solid"/>
          </a:ln>
        </p:spPr>
      </p:sp>
      <p:sp>
        <p:nvSpPr>
          <p:cNvPr id="55" name="text_145"/>
          <p:cNvSpPr txBox="1"/>
          <p:nvPr/>
        </p:nvSpPr>
        <p:spPr>
          <a:xfrm>
            <a:off x="7191756" y="5440680"/>
            <a:ext cx="873252" cy="411480"/>
          </a:xfrm>
          <a:prstGeom prst="rect">
            <a:avLst/>
          </a:prstGeom>
          <a:noFill/>
          <a:ln/>
        </p:spPr>
        <p:txBody>
          <a:bodyPr wrap="square" lIns="0" tIns="0" rIns="0" bIns="0" rtlCol="0" anchor="ctr"/>
          <a:lstStyle/>
          <a:p>
            <a:pPr algn="ctr" indent="0" marL="0">
              <a:buNone/>
            </a:pPr>
            <a:r>
              <a:rPr lang="en-US" sz="1200" b="1" dirty="0">
                <a:solidFill>
                  <a:schemeClr val="tx2"/>
                </a:solidFill>
              </a:rPr>
              <a:t>SHIPPED</a:t>
            </a:r>
            <a:endParaRPr lang="en-US" sz="1200" dirty="0"/>
          </a:p>
        </p:txBody>
      </p:sp>
      <p:sp>
        <p:nvSpPr>
          <p:cNvPr id="56" name="card_146"/>
          <p:cNvSpPr/>
          <p:nvPr/>
        </p:nvSpPr>
        <p:spPr>
          <a:xfrm>
            <a:off x="8174736" y="5440680"/>
            <a:ext cx="1737360" cy="411480"/>
          </a:xfrm>
          <a:prstGeom prst="roundRect">
            <a:avLst>
              <a:gd name="adj" fmla="val 26667"/>
            </a:avLst>
          </a:prstGeom>
          <a:solidFill>
            <a:schemeClr val="bg2"/>
          </a:solidFill>
          <a:ln w="12700">
            <a:solidFill>
              <a:schemeClr val="bg2"/>
            </a:solidFill>
            <a:prstDash val="solid"/>
          </a:ln>
        </p:spPr>
      </p:sp>
      <p:sp>
        <p:nvSpPr>
          <p:cNvPr id="57" name="text_147"/>
          <p:cNvSpPr txBox="1"/>
          <p:nvPr/>
        </p:nvSpPr>
        <p:spPr>
          <a:xfrm>
            <a:off x="8174736" y="5440680"/>
            <a:ext cx="1737360" cy="411480"/>
          </a:xfrm>
          <a:prstGeom prst="rect">
            <a:avLst/>
          </a:prstGeom>
          <a:noFill/>
          <a:ln/>
        </p:spPr>
        <p:txBody>
          <a:bodyPr wrap="square" lIns="0" tIns="0" rIns="0" bIns="0" rtlCol="0" anchor="ctr"/>
          <a:lstStyle/>
          <a:p>
            <a:pPr algn="ctr" indent="0" marL="0">
              <a:buNone/>
            </a:pPr>
            <a:r>
              <a:rPr lang="en-US" sz="1200" b="1" dirty="0">
                <a:solidFill>
                  <a:schemeClr val="tx2"/>
                </a:solidFill>
              </a:rPr>
              <a:t>OUT_FOR_DELIVERY</a:t>
            </a:r>
            <a:endParaRPr lang="en-US" sz="1200" dirty="0"/>
          </a:p>
        </p:txBody>
      </p:sp>
      <p:sp>
        <p:nvSpPr>
          <p:cNvPr id="58" name="card_148"/>
          <p:cNvSpPr/>
          <p:nvPr/>
        </p:nvSpPr>
        <p:spPr>
          <a:xfrm>
            <a:off x="10021824" y="5440680"/>
            <a:ext cx="1065276" cy="411480"/>
          </a:xfrm>
          <a:prstGeom prst="roundRect">
            <a:avLst>
              <a:gd name="adj" fmla="val 26667"/>
            </a:avLst>
          </a:prstGeom>
          <a:solidFill>
            <a:schemeClr val="bg2"/>
          </a:solidFill>
          <a:ln w="12700">
            <a:solidFill>
              <a:schemeClr val="bg2"/>
            </a:solidFill>
            <a:prstDash val="solid"/>
          </a:ln>
        </p:spPr>
      </p:sp>
      <p:sp>
        <p:nvSpPr>
          <p:cNvPr id="59" name="text_149"/>
          <p:cNvSpPr txBox="1"/>
          <p:nvPr/>
        </p:nvSpPr>
        <p:spPr>
          <a:xfrm>
            <a:off x="10021824" y="5440680"/>
            <a:ext cx="1065276" cy="411480"/>
          </a:xfrm>
          <a:prstGeom prst="rect">
            <a:avLst/>
          </a:prstGeom>
          <a:noFill/>
          <a:ln/>
        </p:spPr>
        <p:txBody>
          <a:bodyPr wrap="square" lIns="0" tIns="0" rIns="0" bIns="0" rtlCol="0" anchor="ctr"/>
          <a:lstStyle/>
          <a:p>
            <a:pPr algn="ctr" indent="0" marL="0">
              <a:buNone/>
            </a:pPr>
            <a:r>
              <a:rPr lang="en-US" sz="1200" b="1" dirty="0">
                <a:solidFill>
                  <a:schemeClr val="tx2"/>
                </a:solidFill>
              </a:rPr>
              <a:t>DELIVERED</a:t>
            </a:r>
            <a:endParaRPr lang="en-US" sz="1200" dirty="0"/>
          </a:p>
        </p:txBody>
      </p:sp>
      <p:sp>
        <p:nvSpPr>
          <p:cNvPr id="60" name="text_150"/>
          <p:cNvSpPr txBox="1"/>
          <p:nvPr/>
        </p:nvSpPr>
        <p:spPr>
          <a:xfrm>
            <a:off x="2011680" y="5897880"/>
            <a:ext cx="9601200" cy="320040"/>
          </a:xfrm>
          <a:prstGeom prst="rect">
            <a:avLst/>
          </a:prstGeom>
          <a:noFill/>
          <a:ln/>
        </p:spPr>
        <p:txBody>
          <a:bodyPr wrap="square" lIns="0" tIns="0" rIns="0" bIns="0" rtlCol="0" anchor="t"/>
          <a:lstStyle/>
          <a:p>
            <a:pPr indent="0" marL="0">
              <a:buNone/>
            </a:pPr>
            <a:r>
              <a:rPr lang="en-US" sz="1300" dirty="0">
                <a:solidFill>
                  <a:schemeClr val="accent2"/>
                </a:solidFill>
              </a:rPr>
              <a:t>CANCELLED from PAYMENT_PENDING / CONFIRMED / PROCESSING, with refund + release as compensation</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rPr>
              <a:t>SOLID and design patterns in the critical modules</a:t>
            </a:r>
            <a:endParaRPr lang="en-US" sz="3200" dirty="0"/>
          </a:p>
        </p:txBody>
      </p:sp>
      <p:sp>
        <p:nvSpPr>
          <p:cNvPr id="3" name="badge_151"/>
          <p:cNvSpPr/>
          <p:nvPr/>
        </p:nvSpPr>
        <p:spPr>
          <a:xfrm>
            <a:off x="548640" y="1371600"/>
            <a:ext cx="548640" cy="548640"/>
          </a:xfrm>
          <a:prstGeom prst="ellipse">
            <a:avLst/>
          </a:prstGeom>
          <a:solidFill>
            <a:schemeClr val="tx2"/>
          </a:solidFill>
          <a:ln w="12700">
            <a:solidFill>
              <a:schemeClr val="tx2"/>
            </a:solidFill>
            <a:prstDash val="solid"/>
          </a:ln>
        </p:spPr>
      </p:sp>
      <p:sp>
        <p:nvSpPr>
          <p:cNvPr id="4" name="badgeText_152"/>
          <p:cNvSpPr txBox="1"/>
          <p:nvPr/>
        </p:nvSpPr>
        <p:spPr>
          <a:xfrm>
            <a:off x="548640" y="1371600"/>
            <a:ext cx="548640" cy="548640"/>
          </a:xfrm>
          <a:prstGeom prst="rect">
            <a:avLst/>
          </a:prstGeom>
          <a:noFill/>
          <a:ln/>
        </p:spPr>
        <p:txBody>
          <a:bodyPr wrap="square" lIns="0" tIns="0" rIns="0" bIns="0" rtlCol="0" anchor="ctr"/>
          <a:lstStyle/>
          <a:p>
            <a:pPr algn="ctr" indent="0" marL="0">
              <a:buNone/>
            </a:pPr>
            <a:r>
              <a:rPr lang="en-US" sz="2000" b="1" dirty="0">
                <a:solidFill>
                  <a:schemeClr val="accent1"/>
                </a:solidFill>
              </a:rPr>
              <a:t>S</a:t>
            </a:r>
            <a:endParaRPr lang="en-US" sz="2000" dirty="0"/>
          </a:p>
        </p:txBody>
      </p:sp>
      <p:sp>
        <p:nvSpPr>
          <p:cNvPr id="5" name="text_153"/>
          <p:cNvSpPr txBox="1"/>
          <p:nvPr/>
        </p:nvSpPr>
        <p:spPr>
          <a:xfrm>
            <a:off x="1280160" y="1371600"/>
            <a:ext cx="4480560" cy="594360"/>
          </a:xfrm>
          <a:prstGeom prst="rect">
            <a:avLst/>
          </a:prstGeom>
          <a:noFill/>
          <a:ln/>
        </p:spPr>
        <p:txBody>
          <a:bodyPr wrap="square" lIns="0" tIns="0" rIns="0" bIns="0" rtlCol="0" anchor="ctr"/>
          <a:lstStyle/>
          <a:p>
            <a:pPr indent="0" marL="0">
              <a:buNone/>
            </a:pPr>
            <a:r>
              <a:rPr lang="en-US" sz="1400" dirty="0">
                <a:solidFill>
                  <a:schemeClr val="tx1"/>
                </a:solidFill>
              </a:rPr>
              <a:t>ReservationService, ExpiryJob, PaymentReconciler: one reason to change each</a:t>
            </a:r>
            <a:endParaRPr lang="en-US" sz="1400" dirty="0"/>
          </a:p>
        </p:txBody>
      </p:sp>
      <p:sp>
        <p:nvSpPr>
          <p:cNvPr id="6" name="badge_154"/>
          <p:cNvSpPr/>
          <p:nvPr/>
        </p:nvSpPr>
        <p:spPr>
          <a:xfrm>
            <a:off x="548640" y="2240280"/>
            <a:ext cx="548640" cy="548640"/>
          </a:xfrm>
          <a:prstGeom prst="ellipse">
            <a:avLst/>
          </a:prstGeom>
          <a:solidFill>
            <a:schemeClr val="tx2"/>
          </a:solidFill>
          <a:ln w="12700">
            <a:solidFill>
              <a:schemeClr val="tx2"/>
            </a:solidFill>
            <a:prstDash val="solid"/>
          </a:ln>
        </p:spPr>
      </p:sp>
      <p:sp>
        <p:nvSpPr>
          <p:cNvPr id="7" name="badgeText_155"/>
          <p:cNvSpPr txBox="1"/>
          <p:nvPr/>
        </p:nvSpPr>
        <p:spPr>
          <a:xfrm>
            <a:off x="548640" y="2240280"/>
            <a:ext cx="548640" cy="548640"/>
          </a:xfrm>
          <a:prstGeom prst="rect">
            <a:avLst/>
          </a:prstGeom>
          <a:noFill/>
          <a:ln/>
        </p:spPr>
        <p:txBody>
          <a:bodyPr wrap="square" lIns="0" tIns="0" rIns="0" bIns="0" rtlCol="0" anchor="ctr"/>
          <a:lstStyle/>
          <a:p>
            <a:pPr algn="ctr" indent="0" marL="0">
              <a:buNone/>
            </a:pPr>
            <a:r>
              <a:rPr lang="en-US" sz="2000" b="1" dirty="0">
                <a:solidFill>
                  <a:schemeClr val="accent1"/>
                </a:solidFill>
              </a:rPr>
              <a:t>O</a:t>
            </a:r>
            <a:endParaRPr lang="en-US" sz="2000" dirty="0"/>
          </a:p>
        </p:txBody>
      </p:sp>
      <p:sp>
        <p:nvSpPr>
          <p:cNvPr id="8" name="text_156"/>
          <p:cNvSpPr txBox="1"/>
          <p:nvPr/>
        </p:nvSpPr>
        <p:spPr>
          <a:xfrm>
            <a:off x="1280160" y="2240280"/>
            <a:ext cx="4480560" cy="594360"/>
          </a:xfrm>
          <a:prstGeom prst="rect">
            <a:avLst/>
          </a:prstGeom>
          <a:noFill/>
          <a:ln/>
        </p:spPr>
        <p:txBody>
          <a:bodyPr wrap="square" lIns="0" tIns="0" rIns="0" bIns="0" rtlCol="0" anchor="ctr"/>
          <a:lstStyle/>
          <a:p>
            <a:pPr indent="0" marL="0">
              <a:buNone/>
            </a:pPr>
            <a:r>
              <a:rPr lang="en-US" sz="1400" dirty="0">
                <a:solidFill>
                  <a:schemeClr val="tx1"/>
                </a:solidFill>
              </a:rPr>
              <a:t>New pricing rule or payment provider = new class, core untouched</a:t>
            </a:r>
            <a:endParaRPr lang="en-US" sz="1400" dirty="0"/>
          </a:p>
        </p:txBody>
      </p:sp>
      <p:sp>
        <p:nvSpPr>
          <p:cNvPr id="9" name="badge_157"/>
          <p:cNvSpPr/>
          <p:nvPr/>
        </p:nvSpPr>
        <p:spPr>
          <a:xfrm>
            <a:off x="548640" y="3108960"/>
            <a:ext cx="548640" cy="548640"/>
          </a:xfrm>
          <a:prstGeom prst="ellipse">
            <a:avLst/>
          </a:prstGeom>
          <a:solidFill>
            <a:schemeClr val="tx2"/>
          </a:solidFill>
          <a:ln w="12700">
            <a:solidFill>
              <a:schemeClr val="tx2"/>
            </a:solidFill>
            <a:prstDash val="solid"/>
          </a:ln>
        </p:spPr>
      </p:sp>
      <p:sp>
        <p:nvSpPr>
          <p:cNvPr id="10" name="badgeText_158"/>
          <p:cNvSpPr txBox="1"/>
          <p:nvPr/>
        </p:nvSpPr>
        <p:spPr>
          <a:xfrm>
            <a:off x="548640" y="3108960"/>
            <a:ext cx="548640" cy="548640"/>
          </a:xfrm>
          <a:prstGeom prst="rect">
            <a:avLst/>
          </a:prstGeom>
          <a:noFill/>
          <a:ln/>
        </p:spPr>
        <p:txBody>
          <a:bodyPr wrap="square" lIns="0" tIns="0" rIns="0" bIns="0" rtlCol="0" anchor="ctr"/>
          <a:lstStyle/>
          <a:p>
            <a:pPr algn="ctr" indent="0" marL="0">
              <a:buNone/>
            </a:pPr>
            <a:r>
              <a:rPr lang="en-US" sz="2000" b="1" dirty="0">
                <a:solidFill>
                  <a:schemeClr val="accent1"/>
                </a:solidFill>
              </a:rPr>
              <a:t>L</a:t>
            </a:r>
            <a:endParaRPr lang="en-US" sz="2000" dirty="0"/>
          </a:p>
        </p:txBody>
      </p:sp>
      <p:sp>
        <p:nvSpPr>
          <p:cNvPr id="11" name="text_159"/>
          <p:cNvSpPr txBox="1"/>
          <p:nvPr/>
        </p:nvSpPr>
        <p:spPr>
          <a:xfrm>
            <a:off x="1280160" y="3108960"/>
            <a:ext cx="4480560" cy="594360"/>
          </a:xfrm>
          <a:prstGeom prst="rect">
            <a:avLst/>
          </a:prstGeom>
          <a:noFill/>
          <a:ln/>
        </p:spPr>
        <p:txBody>
          <a:bodyPr wrap="square" lIns="0" tIns="0" rIns="0" bIns="0" rtlCol="0" anchor="ctr"/>
          <a:lstStyle/>
          <a:p>
            <a:pPr indent="0" marL="0">
              <a:buNone/>
            </a:pPr>
            <a:r>
              <a:rPr lang="en-US" sz="1400" dirty="0">
                <a:solidFill>
                  <a:schemeClr val="tx1"/>
                </a:solidFill>
              </a:rPr>
              <a:t>Any PaymentGateway (incl. CircuitBreaker decorator) is substitutable</a:t>
            </a:r>
            <a:endParaRPr lang="en-US" sz="1400" dirty="0"/>
          </a:p>
        </p:txBody>
      </p:sp>
      <p:sp>
        <p:nvSpPr>
          <p:cNvPr id="12" name="badge_160"/>
          <p:cNvSpPr/>
          <p:nvPr/>
        </p:nvSpPr>
        <p:spPr>
          <a:xfrm>
            <a:off x="548640" y="3977640"/>
            <a:ext cx="548640" cy="548640"/>
          </a:xfrm>
          <a:prstGeom prst="ellipse">
            <a:avLst/>
          </a:prstGeom>
          <a:solidFill>
            <a:schemeClr val="tx2"/>
          </a:solidFill>
          <a:ln w="12700">
            <a:solidFill>
              <a:schemeClr val="tx2"/>
            </a:solidFill>
            <a:prstDash val="solid"/>
          </a:ln>
        </p:spPr>
      </p:sp>
      <p:sp>
        <p:nvSpPr>
          <p:cNvPr id="13" name="badgeText_161"/>
          <p:cNvSpPr txBox="1"/>
          <p:nvPr/>
        </p:nvSpPr>
        <p:spPr>
          <a:xfrm>
            <a:off x="548640" y="3977640"/>
            <a:ext cx="548640" cy="548640"/>
          </a:xfrm>
          <a:prstGeom prst="rect">
            <a:avLst/>
          </a:prstGeom>
          <a:noFill/>
          <a:ln/>
        </p:spPr>
        <p:txBody>
          <a:bodyPr wrap="square" lIns="0" tIns="0" rIns="0" bIns="0" rtlCol="0" anchor="ctr"/>
          <a:lstStyle/>
          <a:p>
            <a:pPr algn="ctr" indent="0" marL="0">
              <a:buNone/>
            </a:pPr>
            <a:r>
              <a:rPr lang="en-US" sz="2000" b="1" dirty="0">
                <a:solidFill>
                  <a:schemeClr val="accent1"/>
                </a:solidFill>
              </a:rPr>
              <a:t>I</a:t>
            </a:r>
            <a:endParaRPr lang="en-US" sz="2000" dirty="0"/>
          </a:p>
        </p:txBody>
      </p:sp>
      <p:sp>
        <p:nvSpPr>
          <p:cNvPr id="14" name="text_162"/>
          <p:cNvSpPr txBox="1"/>
          <p:nvPr/>
        </p:nvSpPr>
        <p:spPr>
          <a:xfrm>
            <a:off x="1280160" y="3977640"/>
            <a:ext cx="4480560" cy="594360"/>
          </a:xfrm>
          <a:prstGeom prst="rect">
            <a:avLst/>
          </a:prstGeom>
          <a:noFill/>
          <a:ln/>
        </p:spPr>
        <p:txBody>
          <a:bodyPr wrap="square" lIns="0" tIns="0" rIns="0" bIns="0" rtlCol="0" anchor="ctr"/>
          <a:lstStyle/>
          <a:p>
            <a:pPr indent="0" marL="0">
              <a:buNone/>
            </a:pPr>
            <a:r>
              <a:rPr lang="en-US" sz="1400" dirty="0">
                <a:solidFill>
                  <a:schemeClr val="tx1"/>
                </a:solidFill>
              </a:rPr>
              <a:t>Small interfaces: StockGate, ReservationRepository, ProcessedEventStore</a:t>
            </a:r>
            <a:endParaRPr lang="en-US" sz="1400" dirty="0"/>
          </a:p>
        </p:txBody>
      </p:sp>
      <p:sp>
        <p:nvSpPr>
          <p:cNvPr id="15" name="badge_163"/>
          <p:cNvSpPr/>
          <p:nvPr/>
        </p:nvSpPr>
        <p:spPr>
          <a:xfrm>
            <a:off x="548640" y="4846320"/>
            <a:ext cx="548640" cy="548640"/>
          </a:xfrm>
          <a:prstGeom prst="ellipse">
            <a:avLst/>
          </a:prstGeom>
          <a:solidFill>
            <a:schemeClr val="tx2"/>
          </a:solidFill>
          <a:ln w="12700">
            <a:solidFill>
              <a:schemeClr val="tx2"/>
            </a:solidFill>
            <a:prstDash val="solid"/>
          </a:ln>
        </p:spPr>
      </p:sp>
      <p:sp>
        <p:nvSpPr>
          <p:cNvPr id="16" name="badgeText_164"/>
          <p:cNvSpPr txBox="1"/>
          <p:nvPr/>
        </p:nvSpPr>
        <p:spPr>
          <a:xfrm>
            <a:off x="548640" y="4846320"/>
            <a:ext cx="548640" cy="548640"/>
          </a:xfrm>
          <a:prstGeom prst="rect">
            <a:avLst/>
          </a:prstGeom>
          <a:noFill/>
          <a:ln/>
        </p:spPr>
        <p:txBody>
          <a:bodyPr wrap="square" lIns="0" tIns="0" rIns="0" bIns="0" rtlCol="0" anchor="ctr"/>
          <a:lstStyle/>
          <a:p>
            <a:pPr algn="ctr" indent="0" marL="0">
              <a:buNone/>
            </a:pPr>
            <a:r>
              <a:rPr lang="en-US" sz="2000" b="1" dirty="0">
                <a:solidFill>
                  <a:schemeClr val="accent1"/>
                </a:solidFill>
              </a:rPr>
              <a:t>D</a:t>
            </a:r>
            <a:endParaRPr lang="en-US" sz="2000" dirty="0"/>
          </a:p>
        </p:txBody>
      </p:sp>
      <p:sp>
        <p:nvSpPr>
          <p:cNvPr id="17" name="text_165"/>
          <p:cNvSpPr txBox="1"/>
          <p:nvPr/>
        </p:nvSpPr>
        <p:spPr>
          <a:xfrm>
            <a:off x="1280160" y="4846320"/>
            <a:ext cx="4480560" cy="594360"/>
          </a:xfrm>
          <a:prstGeom prst="rect">
            <a:avLst/>
          </a:prstGeom>
          <a:noFill/>
          <a:ln/>
        </p:spPr>
        <p:txBody>
          <a:bodyPr wrap="square" lIns="0" tIns="0" rIns="0" bIns="0" rtlCol="0" anchor="ctr"/>
          <a:lstStyle/>
          <a:p>
            <a:pPr indent="0" marL="0">
              <a:buNone/>
            </a:pPr>
            <a:r>
              <a:rPr lang="en-US" sz="1400" dirty="0">
                <a:solidFill>
                  <a:schemeClr val="tx1"/>
                </a:solidFill>
              </a:rPr>
              <a:t>Services depend on StockGate / Repository / EventPublisher abstractions</a:t>
            </a:r>
            <a:endParaRPr lang="en-US" sz="1400" dirty="0"/>
          </a:p>
        </p:txBody>
      </p:sp>
      <p:sp>
        <p:nvSpPr>
          <p:cNvPr id="18" name="card_166"/>
          <p:cNvSpPr/>
          <p:nvPr/>
        </p:nvSpPr>
        <p:spPr>
          <a:xfrm>
            <a:off x="6126480" y="1371600"/>
            <a:ext cx="2651760" cy="1280160"/>
          </a:xfrm>
          <a:prstGeom prst="roundRect">
            <a:avLst>
              <a:gd name="adj" fmla="val 8571"/>
            </a:avLst>
          </a:prstGeom>
          <a:solidFill>
            <a:schemeClr val="bg2"/>
          </a:solidFill>
          <a:ln w="12700">
            <a:solidFill>
              <a:schemeClr val="bg2"/>
            </a:solidFill>
            <a:prstDash val="solid"/>
          </a:ln>
        </p:spPr>
      </p:sp>
      <p:sp>
        <p:nvSpPr>
          <p:cNvPr id="19" name="text_167"/>
          <p:cNvSpPr txBox="1"/>
          <p:nvPr/>
        </p:nvSpPr>
        <p:spPr>
          <a:xfrm>
            <a:off x="6309360" y="1508760"/>
            <a:ext cx="2286000" cy="365760"/>
          </a:xfrm>
          <a:prstGeom prst="rect">
            <a:avLst/>
          </a:prstGeom>
          <a:noFill/>
          <a:ln/>
        </p:spPr>
        <p:txBody>
          <a:bodyPr wrap="square" lIns="0" tIns="0" rIns="0" bIns="0" rtlCol="0" anchor="t"/>
          <a:lstStyle/>
          <a:p>
            <a:pPr indent="0" marL="0">
              <a:buNone/>
            </a:pPr>
            <a:r>
              <a:rPr lang="en-US" sz="1600" b="1" dirty="0">
                <a:solidFill>
                  <a:schemeClr val="tx2"/>
                </a:solidFill>
              </a:rPr>
              <a:t>Strategy</a:t>
            </a:r>
            <a:endParaRPr lang="en-US" sz="1600" dirty="0"/>
          </a:p>
        </p:txBody>
      </p:sp>
      <p:sp>
        <p:nvSpPr>
          <p:cNvPr id="20" name="text_168"/>
          <p:cNvSpPr txBox="1"/>
          <p:nvPr/>
        </p:nvSpPr>
        <p:spPr>
          <a:xfrm>
            <a:off x="6309360" y="1920240"/>
            <a:ext cx="2286000" cy="685800"/>
          </a:xfrm>
          <a:prstGeom prst="rect">
            <a:avLst/>
          </a:prstGeom>
          <a:noFill/>
          <a:ln/>
        </p:spPr>
        <p:txBody>
          <a:bodyPr wrap="square" lIns="0" tIns="0" rIns="0" bIns="0" rtlCol="0" anchor="t"/>
          <a:lstStyle/>
          <a:p>
            <a:pPr indent="0" marL="0">
              <a:buNone/>
            </a:pPr>
            <a:r>
              <a:rPr lang="en-US" sz="1400" dirty="0">
                <a:solidFill>
                  <a:schemeClr val="tx1"/>
                </a:solidFill>
              </a:rPr>
              <a:t>Pricing: FlashSale, Coupon, Regular</a:t>
            </a:r>
            <a:endParaRPr lang="en-US" sz="1400" dirty="0"/>
          </a:p>
        </p:txBody>
      </p:sp>
      <p:sp>
        <p:nvSpPr>
          <p:cNvPr id="21" name="card_169"/>
          <p:cNvSpPr/>
          <p:nvPr/>
        </p:nvSpPr>
        <p:spPr>
          <a:xfrm>
            <a:off x="8915400" y="1371600"/>
            <a:ext cx="2651760" cy="1280160"/>
          </a:xfrm>
          <a:prstGeom prst="roundRect">
            <a:avLst>
              <a:gd name="adj" fmla="val 8571"/>
            </a:avLst>
          </a:prstGeom>
          <a:solidFill>
            <a:schemeClr val="bg2"/>
          </a:solidFill>
          <a:ln w="12700">
            <a:solidFill>
              <a:schemeClr val="bg2"/>
            </a:solidFill>
            <a:prstDash val="solid"/>
          </a:ln>
        </p:spPr>
      </p:sp>
      <p:sp>
        <p:nvSpPr>
          <p:cNvPr id="22" name="text_170"/>
          <p:cNvSpPr txBox="1"/>
          <p:nvPr/>
        </p:nvSpPr>
        <p:spPr>
          <a:xfrm>
            <a:off x="9098280" y="1508760"/>
            <a:ext cx="2286000" cy="365760"/>
          </a:xfrm>
          <a:prstGeom prst="rect">
            <a:avLst/>
          </a:prstGeom>
          <a:noFill/>
          <a:ln/>
        </p:spPr>
        <p:txBody>
          <a:bodyPr wrap="square" lIns="0" tIns="0" rIns="0" bIns="0" rtlCol="0" anchor="t"/>
          <a:lstStyle/>
          <a:p>
            <a:pPr indent="0" marL="0">
              <a:buNone/>
            </a:pPr>
            <a:r>
              <a:rPr lang="en-US" sz="1600" b="1" dirty="0">
                <a:solidFill>
                  <a:schemeClr val="tx2"/>
                </a:solidFill>
              </a:rPr>
              <a:t>Factory + Adapter</a:t>
            </a:r>
            <a:endParaRPr lang="en-US" sz="1600" dirty="0"/>
          </a:p>
        </p:txBody>
      </p:sp>
      <p:sp>
        <p:nvSpPr>
          <p:cNvPr id="23" name="text_171"/>
          <p:cNvSpPr txBox="1"/>
          <p:nvPr/>
        </p:nvSpPr>
        <p:spPr>
          <a:xfrm>
            <a:off x="9098280" y="1920240"/>
            <a:ext cx="2286000" cy="685800"/>
          </a:xfrm>
          <a:prstGeom prst="rect">
            <a:avLst/>
          </a:prstGeom>
          <a:noFill/>
          <a:ln/>
        </p:spPr>
        <p:txBody>
          <a:bodyPr wrap="square" lIns="0" tIns="0" rIns="0" bIns="0" rtlCol="0" anchor="t"/>
          <a:lstStyle/>
          <a:p>
            <a:pPr indent="0" marL="0">
              <a:buNone/>
            </a:pPr>
            <a:r>
              <a:rPr lang="en-US" sz="1400" dirty="0">
                <a:solidFill>
                  <a:schemeClr val="tx1"/>
                </a:solidFill>
              </a:rPr>
              <a:t>PaymentGatewayFactory → Razorpay / Stripe</a:t>
            </a:r>
            <a:endParaRPr lang="en-US" sz="1400" dirty="0"/>
          </a:p>
        </p:txBody>
      </p:sp>
      <p:sp>
        <p:nvSpPr>
          <p:cNvPr id="24" name="card_172"/>
          <p:cNvSpPr/>
          <p:nvPr/>
        </p:nvSpPr>
        <p:spPr>
          <a:xfrm>
            <a:off x="6126480" y="2788920"/>
            <a:ext cx="2651760" cy="1280160"/>
          </a:xfrm>
          <a:prstGeom prst="roundRect">
            <a:avLst>
              <a:gd name="adj" fmla="val 8571"/>
            </a:avLst>
          </a:prstGeom>
          <a:solidFill>
            <a:schemeClr val="bg2"/>
          </a:solidFill>
          <a:ln w="12700">
            <a:solidFill>
              <a:schemeClr val="bg2"/>
            </a:solidFill>
            <a:prstDash val="solid"/>
          </a:ln>
        </p:spPr>
      </p:sp>
      <p:sp>
        <p:nvSpPr>
          <p:cNvPr id="25" name="text_173"/>
          <p:cNvSpPr txBox="1"/>
          <p:nvPr/>
        </p:nvSpPr>
        <p:spPr>
          <a:xfrm>
            <a:off x="6309360" y="2926080"/>
            <a:ext cx="2286000" cy="365760"/>
          </a:xfrm>
          <a:prstGeom prst="rect">
            <a:avLst/>
          </a:prstGeom>
          <a:noFill/>
          <a:ln/>
        </p:spPr>
        <p:txBody>
          <a:bodyPr wrap="square" lIns="0" tIns="0" rIns="0" bIns="0" rtlCol="0" anchor="t"/>
          <a:lstStyle/>
          <a:p>
            <a:pPr indent="0" marL="0">
              <a:buNone/>
            </a:pPr>
            <a:r>
              <a:rPr lang="en-US" sz="1600" b="1" dirty="0">
                <a:solidFill>
                  <a:schemeClr val="tx2"/>
                </a:solidFill>
              </a:rPr>
              <a:t>State</a:t>
            </a:r>
            <a:endParaRPr lang="en-US" sz="1600" dirty="0"/>
          </a:p>
        </p:txBody>
      </p:sp>
      <p:sp>
        <p:nvSpPr>
          <p:cNvPr id="26" name="text_174"/>
          <p:cNvSpPr txBox="1"/>
          <p:nvPr/>
        </p:nvSpPr>
        <p:spPr>
          <a:xfrm>
            <a:off x="6309360" y="3337560"/>
            <a:ext cx="2286000" cy="685800"/>
          </a:xfrm>
          <a:prstGeom prst="rect">
            <a:avLst/>
          </a:prstGeom>
          <a:noFill/>
          <a:ln/>
        </p:spPr>
        <p:txBody>
          <a:bodyPr wrap="square" lIns="0" tIns="0" rIns="0" bIns="0" rtlCol="0" anchor="t"/>
          <a:lstStyle/>
          <a:p>
            <a:pPr indent="0" marL="0">
              <a:buNone/>
            </a:pPr>
            <a:r>
              <a:rPr lang="en-US" sz="1400" dirty="0">
                <a:solidFill>
                  <a:schemeClr val="tx1"/>
                </a:solidFill>
              </a:rPr>
              <a:t>OrderState classes allow only legal transitions</a:t>
            </a:r>
            <a:endParaRPr lang="en-US" sz="1400" dirty="0"/>
          </a:p>
        </p:txBody>
      </p:sp>
      <p:sp>
        <p:nvSpPr>
          <p:cNvPr id="27" name="card_175"/>
          <p:cNvSpPr/>
          <p:nvPr/>
        </p:nvSpPr>
        <p:spPr>
          <a:xfrm>
            <a:off x="8915400" y="2788920"/>
            <a:ext cx="2651760" cy="1280160"/>
          </a:xfrm>
          <a:prstGeom prst="roundRect">
            <a:avLst>
              <a:gd name="adj" fmla="val 8571"/>
            </a:avLst>
          </a:prstGeom>
          <a:solidFill>
            <a:schemeClr val="bg2"/>
          </a:solidFill>
          <a:ln w="12700">
            <a:solidFill>
              <a:schemeClr val="bg2"/>
            </a:solidFill>
            <a:prstDash val="solid"/>
          </a:ln>
        </p:spPr>
      </p:sp>
      <p:sp>
        <p:nvSpPr>
          <p:cNvPr id="28" name="text_176"/>
          <p:cNvSpPr txBox="1"/>
          <p:nvPr/>
        </p:nvSpPr>
        <p:spPr>
          <a:xfrm>
            <a:off x="9098280" y="2926080"/>
            <a:ext cx="2286000" cy="365760"/>
          </a:xfrm>
          <a:prstGeom prst="rect">
            <a:avLst/>
          </a:prstGeom>
          <a:noFill/>
          <a:ln/>
        </p:spPr>
        <p:txBody>
          <a:bodyPr wrap="square" lIns="0" tIns="0" rIns="0" bIns="0" rtlCol="0" anchor="t"/>
          <a:lstStyle/>
          <a:p>
            <a:pPr indent="0" marL="0">
              <a:buNone/>
            </a:pPr>
            <a:r>
              <a:rPr lang="en-US" sz="1600" b="1" dirty="0">
                <a:solidFill>
                  <a:schemeClr val="tx2"/>
                </a:solidFill>
              </a:rPr>
              <a:t>Observer</a:t>
            </a:r>
            <a:endParaRPr lang="en-US" sz="1600" dirty="0"/>
          </a:p>
        </p:txBody>
      </p:sp>
      <p:sp>
        <p:nvSpPr>
          <p:cNvPr id="29" name="text_177"/>
          <p:cNvSpPr txBox="1"/>
          <p:nvPr/>
        </p:nvSpPr>
        <p:spPr>
          <a:xfrm>
            <a:off x="9098280" y="3337560"/>
            <a:ext cx="2286000" cy="685800"/>
          </a:xfrm>
          <a:prstGeom prst="rect">
            <a:avLst/>
          </a:prstGeom>
          <a:noFill/>
          <a:ln/>
        </p:spPr>
        <p:txBody>
          <a:bodyPr wrap="square" lIns="0" tIns="0" rIns="0" bIns="0" rtlCol="0" anchor="t"/>
          <a:lstStyle/>
          <a:p>
            <a:pPr indent="0" marL="0">
              <a:buNone/>
            </a:pPr>
            <a:r>
              <a:rPr lang="en-US" sz="1400" dirty="0">
                <a:solidFill>
                  <a:schemeClr val="tx1"/>
                </a:solidFill>
              </a:rPr>
              <a:t>Order events → Notification, Fulfilment</a:t>
            </a:r>
            <a:endParaRPr lang="en-US" sz="1400" dirty="0"/>
          </a:p>
        </p:txBody>
      </p:sp>
      <p:sp>
        <p:nvSpPr>
          <p:cNvPr id="30" name="card_178"/>
          <p:cNvSpPr/>
          <p:nvPr/>
        </p:nvSpPr>
        <p:spPr>
          <a:xfrm>
            <a:off x="6126480" y="4206240"/>
            <a:ext cx="2651760" cy="1280160"/>
          </a:xfrm>
          <a:prstGeom prst="roundRect">
            <a:avLst>
              <a:gd name="adj" fmla="val 8571"/>
            </a:avLst>
          </a:prstGeom>
          <a:solidFill>
            <a:schemeClr val="bg2"/>
          </a:solidFill>
          <a:ln w="12700">
            <a:solidFill>
              <a:schemeClr val="bg2"/>
            </a:solidFill>
            <a:prstDash val="solid"/>
          </a:ln>
        </p:spPr>
      </p:sp>
      <p:sp>
        <p:nvSpPr>
          <p:cNvPr id="31" name="text_179"/>
          <p:cNvSpPr txBox="1"/>
          <p:nvPr/>
        </p:nvSpPr>
        <p:spPr>
          <a:xfrm>
            <a:off x="6309360" y="4343400"/>
            <a:ext cx="2286000" cy="365760"/>
          </a:xfrm>
          <a:prstGeom prst="rect">
            <a:avLst/>
          </a:prstGeom>
          <a:noFill/>
          <a:ln/>
        </p:spPr>
        <p:txBody>
          <a:bodyPr wrap="square" lIns="0" tIns="0" rIns="0" bIns="0" rtlCol="0" anchor="t"/>
          <a:lstStyle/>
          <a:p>
            <a:pPr indent="0" marL="0">
              <a:buNone/>
            </a:pPr>
            <a:r>
              <a:rPr lang="en-US" sz="1600" b="1" dirty="0">
                <a:solidFill>
                  <a:schemeClr val="tx2"/>
                </a:solidFill>
              </a:rPr>
              <a:t>Facade</a:t>
            </a:r>
            <a:endParaRPr lang="en-US" sz="1600" dirty="0"/>
          </a:p>
        </p:txBody>
      </p:sp>
      <p:sp>
        <p:nvSpPr>
          <p:cNvPr id="32" name="text_180"/>
          <p:cNvSpPr txBox="1"/>
          <p:nvPr/>
        </p:nvSpPr>
        <p:spPr>
          <a:xfrm>
            <a:off x="6309360" y="4754880"/>
            <a:ext cx="2286000" cy="685800"/>
          </a:xfrm>
          <a:prstGeom prst="rect">
            <a:avLst/>
          </a:prstGeom>
          <a:noFill/>
          <a:ln/>
        </p:spPr>
        <p:txBody>
          <a:bodyPr wrap="square" lIns="0" tIns="0" rIns="0" bIns="0" rtlCol="0" anchor="t"/>
          <a:lstStyle/>
          <a:p>
            <a:pPr indent="0" marL="0">
              <a:buNone/>
            </a:pPr>
            <a:r>
              <a:rPr lang="en-US" sz="1400" dirty="0">
                <a:solidFill>
                  <a:schemeClr val="tx1"/>
                </a:solidFill>
              </a:rPr>
              <a:t>CheckoutFacade orchestrates the saga</a:t>
            </a:r>
            <a:endParaRPr lang="en-US" sz="1400" dirty="0"/>
          </a:p>
        </p:txBody>
      </p:sp>
      <p:sp>
        <p:nvSpPr>
          <p:cNvPr id="33" name="card_181"/>
          <p:cNvSpPr/>
          <p:nvPr/>
        </p:nvSpPr>
        <p:spPr>
          <a:xfrm>
            <a:off x="8915400" y="4206240"/>
            <a:ext cx="2651760" cy="1280160"/>
          </a:xfrm>
          <a:prstGeom prst="roundRect">
            <a:avLst>
              <a:gd name="adj" fmla="val 8571"/>
            </a:avLst>
          </a:prstGeom>
          <a:solidFill>
            <a:schemeClr val="bg2"/>
          </a:solidFill>
          <a:ln w="12700">
            <a:solidFill>
              <a:schemeClr val="bg2"/>
            </a:solidFill>
            <a:prstDash val="solid"/>
          </a:ln>
        </p:spPr>
      </p:sp>
      <p:sp>
        <p:nvSpPr>
          <p:cNvPr id="34" name="text_182"/>
          <p:cNvSpPr txBox="1"/>
          <p:nvPr/>
        </p:nvSpPr>
        <p:spPr>
          <a:xfrm>
            <a:off x="9098280" y="4343400"/>
            <a:ext cx="2286000" cy="365760"/>
          </a:xfrm>
          <a:prstGeom prst="rect">
            <a:avLst/>
          </a:prstGeom>
          <a:noFill/>
          <a:ln/>
        </p:spPr>
        <p:txBody>
          <a:bodyPr wrap="square" lIns="0" tIns="0" rIns="0" bIns="0" rtlCol="0" anchor="t"/>
          <a:lstStyle/>
          <a:p>
            <a:pPr indent="0" marL="0">
              <a:buNone/>
            </a:pPr>
            <a:r>
              <a:rPr lang="en-US" sz="1600" b="1" dirty="0">
                <a:solidFill>
                  <a:schemeClr val="tx2"/>
                </a:solidFill>
              </a:rPr>
              <a:t>Circuit Breaker</a:t>
            </a:r>
            <a:endParaRPr lang="en-US" sz="1600" dirty="0"/>
          </a:p>
        </p:txBody>
      </p:sp>
      <p:sp>
        <p:nvSpPr>
          <p:cNvPr id="35" name="text_183"/>
          <p:cNvSpPr txBox="1"/>
          <p:nvPr/>
        </p:nvSpPr>
        <p:spPr>
          <a:xfrm>
            <a:off x="9098280" y="4754880"/>
            <a:ext cx="2286000" cy="685800"/>
          </a:xfrm>
          <a:prstGeom prst="rect">
            <a:avLst/>
          </a:prstGeom>
          <a:noFill/>
          <a:ln/>
        </p:spPr>
        <p:txBody>
          <a:bodyPr wrap="square" lIns="0" tIns="0" rIns="0" bIns="0" rtlCol="0" anchor="t"/>
          <a:lstStyle/>
          <a:p>
            <a:pPr indent="0" marL="0">
              <a:buNone/>
            </a:pPr>
            <a:r>
              <a:rPr lang="en-US" sz="1400" dirty="0">
                <a:solidFill>
                  <a:schemeClr val="tx1"/>
                </a:solidFill>
              </a:rPr>
              <a:t>Wraps every external gateway call</a:t>
            </a:r>
            <a:endParaRPr lang="en-US" sz="1400" dirty="0"/>
          </a:p>
        </p:txBody>
      </p:sp>
      <p:sp>
        <p:nvSpPr>
          <p:cNvPr id="36" name="text_184"/>
          <p:cNvSpPr txBox="1"/>
          <p:nvPr/>
        </p:nvSpPr>
        <p:spPr>
          <a:xfrm>
            <a:off x="548640" y="5806440"/>
            <a:ext cx="11064240" cy="457200"/>
          </a:xfrm>
          <a:prstGeom prst="rect">
            <a:avLst/>
          </a:prstGeom>
          <a:noFill/>
          <a:ln/>
        </p:spPr>
        <p:txBody>
          <a:bodyPr wrap="square" lIns="0" tIns="0" rIns="0" bIns="0" rtlCol="0" anchor="t"/>
          <a:lstStyle/>
          <a:p>
            <a:pPr indent="0" marL="0">
              <a:buNone/>
            </a:pPr>
            <a:r>
              <a:rPr lang="en-US" sz="1400" b="1" dirty="0">
                <a:solidFill>
                  <a:schemeClr val="accent4"/>
                </a:solidFill>
              </a:rPr>
              <a:t>Adding PayU = one PayUAdapter class + one factory entry. PaymentService, CheckoutFacade, events and schema stay unchanged.</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rPr>
              <a:t>Ready for 50× traffic and any single failure</a:t>
            </a:r>
            <a:endParaRPr lang="en-US" sz="3200" dirty="0"/>
          </a:p>
        </p:txBody>
      </p:sp>
      <p:sp>
        <p:nvSpPr>
          <p:cNvPr id="3" name="card_185"/>
          <p:cNvSpPr/>
          <p:nvPr/>
        </p:nvSpPr>
        <p:spPr>
          <a:xfrm>
            <a:off x="548640" y="1371600"/>
            <a:ext cx="5120640" cy="4572000"/>
          </a:xfrm>
          <a:prstGeom prst="roundRect">
            <a:avLst>
              <a:gd name="adj" fmla="val 2400"/>
            </a:avLst>
          </a:prstGeom>
          <a:solidFill>
            <a:schemeClr val="tx2"/>
          </a:solidFill>
          <a:ln w="12700">
            <a:solidFill>
              <a:schemeClr val="tx2"/>
            </a:solidFill>
            <a:prstDash val="solid"/>
          </a:ln>
        </p:spPr>
      </p:sp>
      <p:sp>
        <p:nvSpPr>
          <p:cNvPr id="4" name="text_186"/>
          <p:cNvSpPr txBox="1"/>
          <p:nvPr/>
        </p:nvSpPr>
        <p:spPr>
          <a:xfrm>
            <a:off x="822960" y="1554480"/>
            <a:ext cx="4572000" cy="411480"/>
          </a:xfrm>
          <a:prstGeom prst="rect">
            <a:avLst/>
          </a:prstGeom>
          <a:noFill/>
          <a:ln/>
        </p:spPr>
        <p:txBody>
          <a:bodyPr wrap="square" lIns="0" tIns="0" rIns="0" bIns="0" rtlCol="0" anchor="t"/>
          <a:lstStyle/>
          <a:p>
            <a:pPr indent="0" marL="0">
              <a:buNone/>
            </a:pPr>
            <a:r>
              <a:rPr lang="en-US" sz="2000" b="1" dirty="0">
                <a:solidFill>
                  <a:schemeClr val="accent1"/>
                </a:solidFill>
              </a:rPr>
              <a:t>At 50× (500k buyers)</a:t>
            </a:r>
            <a:endParaRPr lang="en-US" sz="2000" dirty="0"/>
          </a:p>
        </p:txBody>
      </p:sp>
      <p:sp>
        <p:nvSpPr>
          <p:cNvPr id="5" name="text_187"/>
          <p:cNvSpPr txBox="1"/>
          <p:nvPr/>
        </p:nvSpPr>
        <p:spPr>
          <a:xfrm>
            <a:off x="822960" y="2103120"/>
            <a:ext cx="4572000" cy="36576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bg1"/>
                </a:solidFill>
              </a:rPr>
              <a:t>Waiting room mandatory, randomised fair admission</a:t>
            </a:r>
            <a:endParaRPr lang="en-US" sz="1500" dirty="0"/>
          </a:p>
          <a:p>
            <a:pPr marL="342900" indent="-342900">
              <a:spcAft>
                <a:spcPts val="600"/>
              </a:spcAft>
              <a:buSzPct val="100000"/>
              <a:buChar char="•"/>
            </a:pPr>
            <a:r>
              <a:rPr lang="en-US" sz="1500" dirty="0">
                <a:solidFill>
                  <a:schemeClr val="bg1"/>
                </a:solidFill>
              </a:rPr>
              <a:t>Stock bucketing: 100 units over 10 Redis keys on different shards</a:t>
            </a:r>
            <a:endParaRPr lang="en-US" sz="1500" dirty="0"/>
          </a:p>
          <a:p>
            <a:pPr marL="342900" indent="-342900">
              <a:spcAft>
                <a:spcPts val="600"/>
              </a:spcAft>
              <a:buSzPct val="100000"/>
              <a:buChar char="•"/>
            </a:pPr>
            <a:r>
              <a:rPr lang="en-US" sz="1500" dirty="0">
                <a:solidFill>
                  <a:schemeClr val="bg1"/>
                </a:solidFill>
              </a:rPr>
              <a:t>CDN flips to a static sold-out page on inventory.sold_out</a:t>
            </a:r>
            <a:endParaRPr lang="en-US" sz="1500" dirty="0"/>
          </a:p>
          <a:p>
            <a:pPr marL="342900" indent="-342900">
              <a:spcAft>
                <a:spcPts val="600"/>
              </a:spcAft>
              <a:buSzPct val="100000"/>
              <a:buChar char="•"/>
            </a:pPr>
            <a:r>
              <a:rPr lang="en-US" sz="1500" dirty="0">
                <a:solidFill>
                  <a:schemeClr val="bg1"/>
                </a:solidFill>
              </a:rPr>
              <a:t>Pre-scale 30 min before start; autoscaling is too slow for a 5 s spike</a:t>
            </a:r>
            <a:endParaRPr lang="en-US" sz="1500" dirty="0"/>
          </a:p>
          <a:p>
            <a:pPr marL="342900" indent="-342900">
              <a:spcAft>
                <a:spcPts val="600"/>
              </a:spcAft>
              <a:buSzPct val="100000"/>
              <a:buChar char="•"/>
            </a:pPr>
            <a:r>
              <a:rPr lang="en-US" sz="1500" dirty="0">
                <a:solidFill>
                  <a:schemeClr val="bg1"/>
                </a:solidFill>
              </a:rPr>
              <a:t>DB still sees only ~100 winners, so correctness is unchanged</a:t>
            </a:r>
            <a:endParaRPr lang="en-US" sz="1500" dirty="0"/>
          </a:p>
        </p:txBody>
      </p:sp>
      <p:sp>
        <p:nvSpPr>
          <p:cNvPr id="6" name="card_188"/>
          <p:cNvSpPr/>
          <p:nvPr/>
        </p:nvSpPr>
        <p:spPr>
          <a:xfrm>
            <a:off x="5943600" y="1371600"/>
            <a:ext cx="5669280" cy="804672"/>
          </a:xfrm>
          <a:prstGeom prst="roundRect">
            <a:avLst>
              <a:gd name="adj" fmla="val 13636"/>
            </a:avLst>
          </a:prstGeom>
          <a:solidFill>
            <a:schemeClr val="bg2"/>
          </a:solidFill>
          <a:ln w="12700">
            <a:solidFill>
              <a:schemeClr val="bg2"/>
            </a:solidFill>
            <a:prstDash val="solid"/>
          </a:ln>
        </p:spPr>
      </p:sp>
      <p:sp>
        <p:nvSpPr>
          <p:cNvPr id="7" name="text_189"/>
          <p:cNvSpPr txBox="1"/>
          <p:nvPr/>
        </p:nvSpPr>
        <p:spPr>
          <a:xfrm>
            <a:off x="6126480" y="1371600"/>
            <a:ext cx="2103120" cy="804672"/>
          </a:xfrm>
          <a:prstGeom prst="rect">
            <a:avLst/>
          </a:prstGeom>
          <a:noFill/>
          <a:ln/>
        </p:spPr>
        <p:txBody>
          <a:bodyPr wrap="square" lIns="0" tIns="0" rIns="0" bIns="0" rtlCol="0" anchor="ctr"/>
          <a:lstStyle/>
          <a:p>
            <a:pPr indent="0" marL="0">
              <a:buNone/>
            </a:pPr>
            <a:r>
              <a:rPr lang="en-US" sz="1500" b="1" dirty="0">
                <a:solidFill>
                  <a:schemeClr val="accent2"/>
                </a:solidFill>
              </a:rPr>
              <a:t>DB primary fails</a:t>
            </a:r>
            <a:endParaRPr lang="en-US" sz="1500" dirty="0"/>
          </a:p>
        </p:txBody>
      </p:sp>
      <p:sp>
        <p:nvSpPr>
          <p:cNvPr id="8" name="text_190"/>
          <p:cNvSpPr txBox="1"/>
          <p:nvPr/>
        </p:nvSpPr>
        <p:spPr>
          <a:xfrm>
            <a:off x="8229600" y="1371600"/>
            <a:ext cx="3291840" cy="804672"/>
          </a:xfrm>
          <a:prstGeom prst="rect">
            <a:avLst/>
          </a:prstGeom>
          <a:noFill/>
          <a:ln/>
        </p:spPr>
        <p:txBody>
          <a:bodyPr wrap="square" lIns="0" tIns="0" rIns="0" bIns="0" rtlCol="0" anchor="ctr"/>
          <a:lstStyle/>
          <a:p>
            <a:pPr indent="0" marL="0">
              <a:buNone/>
            </a:pPr>
            <a:r>
              <a:rPr lang="en-US" sz="1400" dirty="0">
                <a:solidFill>
                  <a:schemeClr val="tx1"/>
                </a:solidFill>
              </a:rPr>
              <a:t>Sync standby promoted in ~30 s, RPO 0; Redis resynced from DB</a:t>
            </a:r>
            <a:endParaRPr lang="en-US" sz="1400" dirty="0"/>
          </a:p>
        </p:txBody>
      </p:sp>
      <p:sp>
        <p:nvSpPr>
          <p:cNvPr id="9" name="card_191"/>
          <p:cNvSpPr/>
          <p:nvPr/>
        </p:nvSpPr>
        <p:spPr>
          <a:xfrm>
            <a:off x="5943600" y="2286000"/>
            <a:ext cx="5669280" cy="804672"/>
          </a:xfrm>
          <a:prstGeom prst="roundRect">
            <a:avLst>
              <a:gd name="adj" fmla="val 13636"/>
            </a:avLst>
          </a:prstGeom>
          <a:solidFill>
            <a:schemeClr val="bg2"/>
          </a:solidFill>
          <a:ln w="12700">
            <a:solidFill>
              <a:schemeClr val="bg2"/>
            </a:solidFill>
            <a:prstDash val="solid"/>
          </a:ln>
        </p:spPr>
      </p:sp>
      <p:sp>
        <p:nvSpPr>
          <p:cNvPr id="10" name="text_192"/>
          <p:cNvSpPr txBox="1"/>
          <p:nvPr/>
        </p:nvSpPr>
        <p:spPr>
          <a:xfrm>
            <a:off x="6126480" y="2286000"/>
            <a:ext cx="2103120" cy="804672"/>
          </a:xfrm>
          <a:prstGeom prst="rect">
            <a:avLst/>
          </a:prstGeom>
          <a:noFill/>
          <a:ln/>
        </p:spPr>
        <p:txBody>
          <a:bodyPr wrap="square" lIns="0" tIns="0" rIns="0" bIns="0" rtlCol="0" anchor="ctr"/>
          <a:lstStyle/>
          <a:p>
            <a:pPr indent="0" marL="0">
              <a:buNone/>
            </a:pPr>
            <a:r>
              <a:rPr lang="en-US" sz="1500" b="1" dirty="0">
                <a:solidFill>
                  <a:schemeClr val="accent2"/>
                </a:solidFill>
              </a:rPr>
              <a:t>Redis fails</a:t>
            </a:r>
            <a:endParaRPr lang="en-US" sz="1500" dirty="0"/>
          </a:p>
        </p:txBody>
      </p:sp>
      <p:sp>
        <p:nvSpPr>
          <p:cNvPr id="11" name="text_193"/>
          <p:cNvSpPr txBox="1"/>
          <p:nvPr/>
        </p:nvSpPr>
        <p:spPr>
          <a:xfrm>
            <a:off x="8229600" y="2286000"/>
            <a:ext cx="3291840" cy="804672"/>
          </a:xfrm>
          <a:prstGeom prst="rect">
            <a:avLst/>
          </a:prstGeom>
          <a:noFill/>
          <a:ln/>
        </p:spPr>
        <p:txBody>
          <a:bodyPr wrap="square" lIns="0" tIns="0" rIns="0" bIns="0" rtlCol="0" anchor="ctr"/>
          <a:lstStyle/>
          <a:p>
            <a:pPr indent="0" marL="0">
              <a:buNone/>
            </a:pPr>
            <a:r>
              <a:rPr lang="en-US" sz="1400" dirty="0">
                <a:solidFill>
                  <a:schemeClr val="tx1"/>
                </a:solidFill>
              </a:rPr>
              <a:t>Replica promoted; stock re-seeded from DB; DB still enforces</a:t>
            </a:r>
            <a:endParaRPr lang="en-US" sz="1400" dirty="0"/>
          </a:p>
        </p:txBody>
      </p:sp>
      <p:sp>
        <p:nvSpPr>
          <p:cNvPr id="12" name="card_194"/>
          <p:cNvSpPr/>
          <p:nvPr/>
        </p:nvSpPr>
        <p:spPr>
          <a:xfrm>
            <a:off x="5943600" y="3200400"/>
            <a:ext cx="5669280" cy="804672"/>
          </a:xfrm>
          <a:prstGeom prst="roundRect">
            <a:avLst>
              <a:gd name="adj" fmla="val 13636"/>
            </a:avLst>
          </a:prstGeom>
          <a:solidFill>
            <a:schemeClr val="bg2"/>
          </a:solidFill>
          <a:ln w="12700">
            <a:solidFill>
              <a:schemeClr val="bg2"/>
            </a:solidFill>
            <a:prstDash val="solid"/>
          </a:ln>
        </p:spPr>
      </p:sp>
      <p:sp>
        <p:nvSpPr>
          <p:cNvPr id="13" name="text_195"/>
          <p:cNvSpPr txBox="1"/>
          <p:nvPr/>
        </p:nvSpPr>
        <p:spPr>
          <a:xfrm>
            <a:off x="6126480" y="3200400"/>
            <a:ext cx="2103120" cy="804672"/>
          </a:xfrm>
          <a:prstGeom prst="rect">
            <a:avLst/>
          </a:prstGeom>
          <a:noFill/>
          <a:ln/>
        </p:spPr>
        <p:txBody>
          <a:bodyPr wrap="square" lIns="0" tIns="0" rIns="0" bIns="0" rtlCol="0" anchor="ctr"/>
          <a:lstStyle/>
          <a:p>
            <a:pPr indent="0" marL="0">
              <a:buNone/>
            </a:pPr>
            <a:r>
              <a:rPr lang="en-US" sz="1500" b="1" dirty="0">
                <a:solidFill>
                  <a:schemeClr val="accent2"/>
                </a:solidFill>
              </a:rPr>
              <a:t>Payment gateway down</a:t>
            </a:r>
            <a:endParaRPr lang="en-US" sz="1500" dirty="0"/>
          </a:p>
        </p:txBody>
      </p:sp>
      <p:sp>
        <p:nvSpPr>
          <p:cNvPr id="14" name="text_196"/>
          <p:cNvSpPr txBox="1"/>
          <p:nvPr/>
        </p:nvSpPr>
        <p:spPr>
          <a:xfrm>
            <a:off x="8229600" y="3200400"/>
            <a:ext cx="3291840" cy="804672"/>
          </a:xfrm>
          <a:prstGeom prst="rect">
            <a:avLst/>
          </a:prstGeom>
          <a:noFill/>
          <a:ln/>
        </p:spPr>
        <p:txBody>
          <a:bodyPr wrap="square" lIns="0" tIns="0" rIns="0" bIns="0" rtlCol="0" anchor="ctr"/>
          <a:lstStyle/>
          <a:p>
            <a:pPr indent="0" marL="0">
              <a:buNone/>
            </a:pPr>
            <a:r>
              <a:rPr lang="en-US" sz="1400" dirty="0">
                <a:solidFill>
                  <a:schemeClr val="tx1"/>
                </a:solidFill>
              </a:rPr>
              <a:t>Breaker opens, fail fast or switch provider; holds kept</a:t>
            </a:r>
            <a:endParaRPr lang="en-US" sz="1400" dirty="0"/>
          </a:p>
        </p:txBody>
      </p:sp>
      <p:sp>
        <p:nvSpPr>
          <p:cNvPr id="15" name="card_197"/>
          <p:cNvSpPr/>
          <p:nvPr/>
        </p:nvSpPr>
        <p:spPr>
          <a:xfrm>
            <a:off x="5943600" y="4114800"/>
            <a:ext cx="5669280" cy="804672"/>
          </a:xfrm>
          <a:prstGeom prst="roundRect">
            <a:avLst>
              <a:gd name="adj" fmla="val 13636"/>
            </a:avLst>
          </a:prstGeom>
          <a:solidFill>
            <a:schemeClr val="bg2"/>
          </a:solidFill>
          <a:ln w="12700">
            <a:solidFill>
              <a:schemeClr val="bg2"/>
            </a:solidFill>
            <a:prstDash val="solid"/>
          </a:ln>
        </p:spPr>
      </p:sp>
      <p:sp>
        <p:nvSpPr>
          <p:cNvPr id="16" name="text_198"/>
          <p:cNvSpPr txBox="1"/>
          <p:nvPr/>
        </p:nvSpPr>
        <p:spPr>
          <a:xfrm>
            <a:off x="6126480" y="4114800"/>
            <a:ext cx="2103120" cy="804672"/>
          </a:xfrm>
          <a:prstGeom prst="rect">
            <a:avLst/>
          </a:prstGeom>
          <a:noFill/>
          <a:ln/>
        </p:spPr>
        <p:txBody>
          <a:bodyPr wrap="square" lIns="0" tIns="0" rIns="0" bIns="0" rtlCol="0" anchor="ctr"/>
          <a:lstStyle/>
          <a:p>
            <a:pPr indent="0" marL="0">
              <a:buNone/>
            </a:pPr>
            <a:r>
              <a:rPr lang="en-US" sz="1500" b="1" dirty="0">
                <a:solidFill>
                  <a:schemeClr val="accent2"/>
                </a:solidFill>
              </a:rPr>
              <a:t>Order Service down</a:t>
            </a:r>
            <a:endParaRPr lang="en-US" sz="1500" dirty="0"/>
          </a:p>
        </p:txBody>
      </p:sp>
      <p:sp>
        <p:nvSpPr>
          <p:cNvPr id="17" name="text_199"/>
          <p:cNvSpPr txBox="1"/>
          <p:nvPr/>
        </p:nvSpPr>
        <p:spPr>
          <a:xfrm>
            <a:off x="8229600" y="4114800"/>
            <a:ext cx="3291840" cy="804672"/>
          </a:xfrm>
          <a:prstGeom prst="rect">
            <a:avLst/>
          </a:prstGeom>
          <a:noFill/>
          <a:ln/>
        </p:spPr>
        <p:txBody>
          <a:bodyPr wrap="square" lIns="0" tIns="0" rIns="0" bIns="0" rtlCol="0" anchor="ctr"/>
          <a:lstStyle/>
          <a:p>
            <a:pPr indent="0" marL="0">
              <a:buNone/>
            </a:pPr>
            <a:r>
              <a:rPr lang="en-US" sz="1400" dirty="0">
                <a:solidFill>
                  <a:schemeClr val="tx1"/>
                </a:solidFill>
              </a:rPr>
              <a:t>Events wait in Kafka; idempotent replay</a:t>
            </a:r>
            <a:endParaRPr lang="en-US" sz="1400" dirty="0"/>
          </a:p>
        </p:txBody>
      </p:sp>
      <p:sp>
        <p:nvSpPr>
          <p:cNvPr id="18" name="card_200"/>
          <p:cNvSpPr/>
          <p:nvPr/>
        </p:nvSpPr>
        <p:spPr>
          <a:xfrm>
            <a:off x="5943600" y="5029200"/>
            <a:ext cx="5669280" cy="804672"/>
          </a:xfrm>
          <a:prstGeom prst="roundRect">
            <a:avLst>
              <a:gd name="adj" fmla="val 13636"/>
            </a:avLst>
          </a:prstGeom>
          <a:solidFill>
            <a:schemeClr val="bg2"/>
          </a:solidFill>
          <a:ln w="12700">
            <a:solidFill>
              <a:schemeClr val="bg2"/>
            </a:solidFill>
            <a:prstDash val="solid"/>
          </a:ln>
        </p:spPr>
      </p:sp>
      <p:sp>
        <p:nvSpPr>
          <p:cNvPr id="19" name="text_201"/>
          <p:cNvSpPr txBox="1"/>
          <p:nvPr/>
        </p:nvSpPr>
        <p:spPr>
          <a:xfrm>
            <a:off x="6126480" y="5029200"/>
            <a:ext cx="2103120" cy="804672"/>
          </a:xfrm>
          <a:prstGeom prst="rect">
            <a:avLst/>
          </a:prstGeom>
          <a:noFill/>
          <a:ln/>
        </p:spPr>
        <p:txBody>
          <a:bodyPr wrap="square" lIns="0" tIns="0" rIns="0" bIns="0" rtlCol="0" anchor="ctr"/>
          <a:lstStyle/>
          <a:p>
            <a:pPr indent="0" marL="0">
              <a:buNone/>
            </a:pPr>
            <a:r>
              <a:rPr lang="en-US" sz="1500" b="1" dirty="0">
                <a:solidFill>
                  <a:schemeClr val="accent2"/>
                </a:solidFill>
              </a:rPr>
              <a:t>AZ outage</a:t>
            </a:r>
            <a:endParaRPr lang="en-US" sz="1500" dirty="0"/>
          </a:p>
        </p:txBody>
      </p:sp>
      <p:sp>
        <p:nvSpPr>
          <p:cNvPr id="20" name="text_202"/>
          <p:cNvSpPr txBox="1"/>
          <p:nvPr/>
        </p:nvSpPr>
        <p:spPr>
          <a:xfrm>
            <a:off x="8229600" y="5029200"/>
            <a:ext cx="3291840" cy="804672"/>
          </a:xfrm>
          <a:prstGeom prst="rect">
            <a:avLst/>
          </a:prstGeom>
          <a:noFill/>
          <a:ln/>
        </p:spPr>
        <p:txBody>
          <a:bodyPr wrap="square" lIns="0" tIns="0" rIns="0" bIns="0" rtlCol="0" anchor="ctr"/>
          <a:lstStyle/>
          <a:p>
            <a:pPr indent="0" marL="0">
              <a:buNone/>
            </a:pPr>
            <a:r>
              <a:rPr lang="en-US" sz="1400" dirty="0">
                <a:solidFill>
                  <a:schemeClr val="tx1"/>
                </a:solidFill>
              </a:rPr>
              <a:t>3-AZ pods, DBs, brokers; LB routes away</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rPr>
              <a:t>100 units, 10,000 clicks: from arrival to confirmed orders</a:t>
            </a:r>
            <a:endParaRPr lang="en-US" sz="3200" dirty="0"/>
          </a:p>
        </p:txBody>
      </p:sp>
      <p:sp>
        <p:nvSpPr>
          <p:cNvPr id="3" name="badge_203"/>
          <p:cNvSpPr/>
          <p:nvPr/>
        </p:nvSpPr>
        <p:spPr>
          <a:xfrm>
            <a:off x="548640" y="1463040"/>
            <a:ext cx="548640" cy="548640"/>
          </a:xfrm>
          <a:prstGeom prst="ellipse">
            <a:avLst/>
          </a:prstGeom>
          <a:solidFill>
            <a:schemeClr val="tx2"/>
          </a:solidFill>
          <a:ln w="12700">
            <a:solidFill>
              <a:schemeClr val="tx2"/>
            </a:solidFill>
            <a:prstDash val="solid"/>
          </a:ln>
        </p:spPr>
      </p:sp>
      <p:sp>
        <p:nvSpPr>
          <p:cNvPr id="4" name="badgeText_204"/>
          <p:cNvSpPr txBox="1"/>
          <p:nvPr/>
        </p:nvSpPr>
        <p:spPr>
          <a:xfrm>
            <a:off x="548640" y="14630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text_205"/>
          <p:cNvSpPr txBox="1"/>
          <p:nvPr/>
        </p:nvSpPr>
        <p:spPr>
          <a:xfrm>
            <a:off x="1280160" y="1371600"/>
            <a:ext cx="4663440" cy="731520"/>
          </a:xfrm>
          <a:prstGeom prst="rect">
            <a:avLst/>
          </a:prstGeom>
          <a:noFill/>
          <a:ln/>
        </p:spPr>
        <p:txBody>
          <a:bodyPr wrap="square" lIns="0" tIns="0" rIns="0" bIns="0" rtlCol="0" anchor="ctr"/>
          <a:lstStyle/>
          <a:p>
            <a:pPr indent="0" marL="0">
              <a:buNone/>
            </a:pPr>
            <a:r>
              <a:rPr lang="en-US" sz="1600" dirty="0">
                <a:solidFill>
                  <a:schemeClr val="tx1"/>
                </a:solidFill>
              </a:rPr>
              <a:t>CDN/WAF and gateway drop bots and enforce 5 req/s per user</a:t>
            </a:r>
            <a:endParaRPr lang="en-US" sz="1600" dirty="0"/>
          </a:p>
        </p:txBody>
      </p:sp>
      <p:sp>
        <p:nvSpPr>
          <p:cNvPr id="6" name="badge_206"/>
          <p:cNvSpPr/>
          <p:nvPr/>
        </p:nvSpPr>
        <p:spPr>
          <a:xfrm>
            <a:off x="548640" y="2560320"/>
            <a:ext cx="548640" cy="548640"/>
          </a:xfrm>
          <a:prstGeom prst="ellipse">
            <a:avLst/>
          </a:prstGeom>
          <a:solidFill>
            <a:schemeClr val="tx2"/>
          </a:solidFill>
          <a:ln w="12700">
            <a:solidFill>
              <a:schemeClr val="tx2"/>
            </a:solidFill>
            <a:prstDash val="solid"/>
          </a:ln>
        </p:spPr>
      </p:sp>
      <p:sp>
        <p:nvSpPr>
          <p:cNvPr id="7" name="badgeText_207"/>
          <p:cNvSpPr txBox="1"/>
          <p:nvPr/>
        </p:nvSpPr>
        <p:spPr>
          <a:xfrm>
            <a:off x="548640" y="25603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8" name="text_208"/>
          <p:cNvSpPr txBox="1"/>
          <p:nvPr/>
        </p:nvSpPr>
        <p:spPr>
          <a:xfrm>
            <a:off x="1280160" y="2468880"/>
            <a:ext cx="4663440" cy="731520"/>
          </a:xfrm>
          <a:prstGeom prst="rect">
            <a:avLst/>
          </a:prstGeom>
          <a:noFill/>
          <a:ln/>
        </p:spPr>
        <p:txBody>
          <a:bodyPr wrap="square" lIns="0" tIns="0" rIns="0" bIns="0" rtlCol="0" anchor="ctr"/>
          <a:lstStyle/>
          <a:p>
            <a:pPr indent="0" marL="0">
              <a:buNone/>
            </a:pPr>
            <a:r>
              <a:rPr lang="en-US" sz="1600" dirty="0">
                <a:solidFill>
                  <a:schemeClr val="tx1"/>
                </a:solidFill>
              </a:rPr>
              <a:t>Waiting room admits buyers at 20k/s with signed tokens</a:t>
            </a:r>
            <a:endParaRPr lang="en-US" sz="1600" dirty="0"/>
          </a:p>
        </p:txBody>
      </p:sp>
      <p:sp>
        <p:nvSpPr>
          <p:cNvPr id="9" name="badge_209"/>
          <p:cNvSpPr/>
          <p:nvPr/>
        </p:nvSpPr>
        <p:spPr>
          <a:xfrm>
            <a:off x="548640" y="3657600"/>
            <a:ext cx="548640" cy="548640"/>
          </a:xfrm>
          <a:prstGeom prst="ellipse">
            <a:avLst/>
          </a:prstGeom>
          <a:solidFill>
            <a:schemeClr val="accent1"/>
          </a:solidFill>
          <a:ln w="12700">
            <a:solidFill>
              <a:schemeClr val="accent1"/>
            </a:solidFill>
            <a:prstDash val="solid"/>
          </a:ln>
        </p:spPr>
      </p:sp>
      <p:sp>
        <p:nvSpPr>
          <p:cNvPr id="10" name="badgeText_210"/>
          <p:cNvSpPr txBox="1"/>
          <p:nvPr/>
        </p:nvSpPr>
        <p:spPr>
          <a:xfrm>
            <a:off x="548640" y="3657600"/>
            <a:ext cx="548640" cy="548640"/>
          </a:xfrm>
          <a:prstGeom prst="rect">
            <a:avLst/>
          </a:prstGeom>
          <a:noFill/>
          <a:ln/>
        </p:spPr>
        <p:txBody>
          <a:bodyPr wrap="square" lIns="0" tIns="0" rIns="0" bIns="0" rtlCol="0" anchor="ctr"/>
          <a:lstStyle/>
          <a:p>
            <a:pPr algn="ctr" indent="0" marL="0">
              <a:buNone/>
            </a:pPr>
            <a:r>
              <a:rPr lang="en-US" sz="1800" b="1" dirty="0">
                <a:solidFill>
                  <a:schemeClr val="tx2"/>
                </a:solidFill>
              </a:rPr>
              <a:t>3</a:t>
            </a:r>
            <a:endParaRPr lang="en-US" sz="1800" dirty="0"/>
          </a:p>
        </p:txBody>
      </p:sp>
      <p:sp>
        <p:nvSpPr>
          <p:cNvPr id="11" name="text_211"/>
          <p:cNvSpPr txBox="1"/>
          <p:nvPr/>
        </p:nvSpPr>
        <p:spPr>
          <a:xfrm>
            <a:off x="1280160" y="3566160"/>
            <a:ext cx="4663440" cy="731520"/>
          </a:xfrm>
          <a:prstGeom prst="rect">
            <a:avLst/>
          </a:prstGeom>
          <a:noFill/>
          <a:ln/>
        </p:spPr>
        <p:txBody>
          <a:bodyPr wrap="square" lIns="0" tIns="0" rIns="0" bIns="0" rtlCol="0" anchor="ctr"/>
          <a:lstStyle/>
          <a:p>
            <a:pPr indent="0" marL="0">
              <a:buNone/>
            </a:pPr>
            <a:r>
              <a:rPr lang="en-US" sz="1600" dirty="0">
                <a:solidFill>
                  <a:schemeClr val="tx1"/>
                </a:solidFill>
              </a:rPr>
              <a:t>Redis Lua gate: 100 OK, the rest SOLD_OUT in &lt; 1 ms</a:t>
            </a:r>
            <a:endParaRPr lang="en-US" sz="1600" dirty="0"/>
          </a:p>
        </p:txBody>
      </p:sp>
      <p:sp>
        <p:nvSpPr>
          <p:cNvPr id="12" name="badge_212"/>
          <p:cNvSpPr/>
          <p:nvPr/>
        </p:nvSpPr>
        <p:spPr>
          <a:xfrm>
            <a:off x="548640" y="4754880"/>
            <a:ext cx="548640" cy="548640"/>
          </a:xfrm>
          <a:prstGeom prst="ellipse">
            <a:avLst/>
          </a:prstGeom>
          <a:solidFill>
            <a:schemeClr val="accent1"/>
          </a:solidFill>
          <a:ln w="12700">
            <a:solidFill>
              <a:schemeClr val="accent1"/>
            </a:solidFill>
            <a:prstDash val="solid"/>
          </a:ln>
        </p:spPr>
      </p:sp>
      <p:sp>
        <p:nvSpPr>
          <p:cNvPr id="13" name="badgeText_213"/>
          <p:cNvSpPr txBox="1"/>
          <p:nvPr/>
        </p:nvSpPr>
        <p:spPr>
          <a:xfrm>
            <a:off x="548640" y="4754880"/>
            <a:ext cx="548640" cy="548640"/>
          </a:xfrm>
          <a:prstGeom prst="rect">
            <a:avLst/>
          </a:prstGeom>
          <a:noFill/>
          <a:ln/>
        </p:spPr>
        <p:txBody>
          <a:bodyPr wrap="square" lIns="0" tIns="0" rIns="0" bIns="0" rtlCol="0" anchor="ctr"/>
          <a:lstStyle/>
          <a:p>
            <a:pPr algn="ctr" indent="0" marL="0">
              <a:buNone/>
            </a:pPr>
            <a:r>
              <a:rPr lang="en-US" sz="1800" b="1" dirty="0">
                <a:solidFill>
                  <a:schemeClr val="tx2"/>
                </a:solidFill>
              </a:rPr>
              <a:t>4</a:t>
            </a:r>
            <a:endParaRPr lang="en-US" sz="1800" dirty="0"/>
          </a:p>
        </p:txBody>
      </p:sp>
      <p:sp>
        <p:nvSpPr>
          <p:cNvPr id="14" name="text_214"/>
          <p:cNvSpPr txBox="1"/>
          <p:nvPr/>
        </p:nvSpPr>
        <p:spPr>
          <a:xfrm>
            <a:off x="1280160" y="4663440"/>
            <a:ext cx="4663440" cy="731520"/>
          </a:xfrm>
          <a:prstGeom prst="rect">
            <a:avLst/>
          </a:prstGeom>
          <a:noFill/>
          <a:ln/>
        </p:spPr>
        <p:txBody>
          <a:bodyPr wrap="square" lIns="0" tIns="0" rIns="0" bIns="0" rtlCol="0" anchor="ctr"/>
          <a:lstStyle/>
          <a:p>
            <a:pPr indent="0" marL="0">
              <a:buNone/>
            </a:pPr>
            <a:r>
              <a:rPr lang="en-US" sz="1600" dirty="0">
                <a:solidFill>
                  <a:schemeClr val="tx1"/>
                </a:solidFill>
              </a:rPr>
              <a:t>One DB transaction per winner: UPDATE + reservation + outbox</a:t>
            </a:r>
            <a:endParaRPr lang="en-US" sz="1600" dirty="0"/>
          </a:p>
        </p:txBody>
      </p:sp>
      <p:sp>
        <p:nvSpPr>
          <p:cNvPr id="15" name="badge_215"/>
          <p:cNvSpPr/>
          <p:nvPr/>
        </p:nvSpPr>
        <p:spPr>
          <a:xfrm>
            <a:off x="6172200" y="1463040"/>
            <a:ext cx="548640" cy="548640"/>
          </a:xfrm>
          <a:prstGeom prst="ellipse">
            <a:avLst/>
          </a:prstGeom>
          <a:solidFill>
            <a:schemeClr val="tx2"/>
          </a:solidFill>
          <a:ln w="12700">
            <a:solidFill>
              <a:schemeClr val="tx2"/>
            </a:solidFill>
            <a:prstDash val="solid"/>
          </a:ln>
        </p:spPr>
      </p:sp>
      <p:sp>
        <p:nvSpPr>
          <p:cNvPr id="16" name="badgeText_216"/>
          <p:cNvSpPr txBox="1"/>
          <p:nvPr/>
        </p:nvSpPr>
        <p:spPr>
          <a:xfrm>
            <a:off x="6172200" y="14630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17" name="text_217"/>
          <p:cNvSpPr txBox="1"/>
          <p:nvPr/>
        </p:nvSpPr>
        <p:spPr>
          <a:xfrm>
            <a:off x="6903720" y="1371600"/>
            <a:ext cx="4663440" cy="731520"/>
          </a:xfrm>
          <a:prstGeom prst="rect">
            <a:avLst/>
          </a:prstGeom>
          <a:noFill/>
          <a:ln/>
        </p:spPr>
        <p:txBody>
          <a:bodyPr wrap="square" lIns="0" tIns="0" rIns="0" bIns="0" rtlCol="0" anchor="ctr"/>
          <a:lstStyle/>
          <a:p>
            <a:pPr indent="0" marL="0">
              <a:buNone/>
            </a:pPr>
            <a:r>
              <a:rPr lang="en-US" sz="1600" dirty="0">
                <a:solidFill>
                  <a:schemeClr val="tx1"/>
                </a:solidFill>
              </a:rPr>
              <a:t>Checkout creates order PAYMENT_PENDING and calls Payment</a:t>
            </a:r>
            <a:endParaRPr lang="en-US" sz="1600" dirty="0"/>
          </a:p>
        </p:txBody>
      </p:sp>
      <p:sp>
        <p:nvSpPr>
          <p:cNvPr id="18" name="badge_218"/>
          <p:cNvSpPr/>
          <p:nvPr/>
        </p:nvSpPr>
        <p:spPr>
          <a:xfrm>
            <a:off x="6172200" y="2560320"/>
            <a:ext cx="548640" cy="548640"/>
          </a:xfrm>
          <a:prstGeom prst="ellipse">
            <a:avLst/>
          </a:prstGeom>
          <a:solidFill>
            <a:schemeClr val="tx2"/>
          </a:solidFill>
          <a:ln w="12700">
            <a:solidFill>
              <a:schemeClr val="tx2"/>
            </a:solidFill>
            <a:prstDash val="solid"/>
          </a:ln>
        </p:spPr>
      </p:sp>
      <p:sp>
        <p:nvSpPr>
          <p:cNvPr id="19" name="badgeText_219"/>
          <p:cNvSpPr txBox="1"/>
          <p:nvPr/>
        </p:nvSpPr>
        <p:spPr>
          <a:xfrm>
            <a:off x="6172200" y="25603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20" name="text_220"/>
          <p:cNvSpPr txBox="1"/>
          <p:nvPr/>
        </p:nvSpPr>
        <p:spPr>
          <a:xfrm>
            <a:off x="6903720" y="2468880"/>
            <a:ext cx="4663440" cy="731520"/>
          </a:xfrm>
          <a:prstGeom prst="rect">
            <a:avLst/>
          </a:prstGeom>
          <a:noFill/>
          <a:ln/>
        </p:spPr>
        <p:txBody>
          <a:bodyPr wrap="square" lIns="0" tIns="0" rIns="0" bIns="0" rtlCol="0" anchor="ctr"/>
          <a:lstStyle/>
          <a:p>
            <a:pPr indent="0" marL="0">
              <a:buNone/>
            </a:pPr>
            <a:r>
              <a:rPr lang="en-US" sz="1600" dirty="0">
                <a:solidFill>
                  <a:schemeClr val="tx1"/>
                </a:solidFill>
              </a:rPr>
              <a:t>Idempotent charge; failures release units to the next buyers</a:t>
            </a:r>
            <a:endParaRPr lang="en-US" sz="1600" dirty="0"/>
          </a:p>
        </p:txBody>
      </p:sp>
      <p:sp>
        <p:nvSpPr>
          <p:cNvPr id="21" name="badge_221"/>
          <p:cNvSpPr/>
          <p:nvPr/>
        </p:nvSpPr>
        <p:spPr>
          <a:xfrm>
            <a:off x="6172200" y="3657600"/>
            <a:ext cx="548640" cy="548640"/>
          </a:xfrm>
          <a:prstGeom prst="ellipse">
            <a:avLst/>
          </a:prstGeom>
          <a:solidFill>
            <a:schemeClr val="tx2"/>
          </a:solidFill>
          <a:ln w="12700">
            <a:solidFill>
              <a:schemeClr val="tx2"/>
            </a:solidFill>
            <a:prstDash val="solid"/>
          </a:ln>
        </p:spPr>
      </p:sp>
      <p:sp>
        <p:nvSpPr>
          <p:cNvPr id="22" name="badgeText_222"/>
          <p:cNvSpPr txBox="1"/>
          <p:nvPr/>
        </p:nvSpPr>
        <p:spPr>
          <a:xfrm>
            <a:off x="6172200" y="36576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7</a:t>
            </a:r>
            <a:endParaRPr lang="en-US" sz="1800" dirty="0"/>
          </a:p>
        </p:txBody>
      </p:sp>
      <p:sp>
        <p:nvSpPr>
          <p:cNvPr id="23" name="text_223"/>
          <p:cNvSpPr txBox="1"/>
          <p:nvPr/>
        </p:nvSpPr>
        <p:spPr>
          <a:xfrm>
            <a:off x="6903720" y="3566160"/>
            <a:ext cx="4663440" cy="731520"/>
          </a:xfrm>
          <a:prstGeom prst="rect">
            <a:avLst/>
          </a:prstGeom>
          <a:noFill/>
          <a:ln/>
        </p:spPr>
        <p:txBody>
          <a:bodyPr wrap="square" lIns="0" tIns="0" rIns="0" bIns="0" rtlCol="0" anchor="ctr"/>
          <a:lstStyle/>
          <a:p>
            <a:pPr indent="0" marL="0">
              <a:buNone/>
            </a:pPr>
            <a:r>
              <a:rPr lang="en-US" sz="1600" dirty="0">
                <a:solidFill>
                  <a:schemeClr val="tx1"/>
                </a:solidFill>
              </a:rPr>
              <a:t>payment.succeeded via Kafka: reservation SOLD, order CONFIRMED</a:t>
            </a:r>
            <a:endParaRPr lang="en-US" sz="1600" dirty="0"/>
          </a:p>
        </p:txBody>
      </p:sp>
      <p:sp>
        <p:nvSpPr>
          <p:cNvPr id="24" name="badge_224"/>
          <p:cNvSpPr/>
          <p:nvPr/>
        </p:nvSpPr>
        <p:spPr>
          <a:xfrm>
            <a:off x="6172200" y="4754880"/>
            <a:ext cx="548640" cy="548640"/>
          </a:xfrm>
          <a:prstGeom prst="ellipse">
            <a:avLst/>
          </a:prstGeom>
          <a:solidFill>
            <a:schemeClr val="tx2"/>
          </a:solidFill>
          <a:ln w="12700">
            <a:solidFill>
              <a:schemeClr val="tx2"/>
            </a:solidFill>
            <a:prstDash val="solid"/>
          </a:ln>
        </p:spPr>
      </p:sp>
      <p:sp>
        <p:nvSpPr>
          <p:cNvPr id="25" name="badgeText_225"/>
          <p:cNvSpPr txBox="1"/>
          <p:nvPr/>
        </p:nvSpPr>
        <p:spPr>
          <a:xfrm>
            <a:off x="6172200" y="47548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8</a:t>
            </a:r>
            <a:endParaRPr lang="en-US" sz="1800" dirty="0"/>
          </a:p>
        </p:txBody>
      </p:sp>
      <p:sp>
        <p:nvSpPr>
          <p:cNvPr id="26" name="text_226"/>
          <p:cNvSpPr txBox="1"/>
          <p:nvPr/>
        </p:nvSpPr>
        <p:spPr>
          <a:xfrm>
            <a:off x="6903720" y="4663440"/>
            <a:ext cx="4663440" cy="731520"/>
          </a:xfrm>
          <a:prstGeom prst="rect">
            <a:avLst/>
          </a:prstGeom>
          <a:noFill/>
          <a:ln/>
        </p:spPr>
        <p:txBody>
          <a:bodyPr wrap="square" lIns="0" tIns="0" rIns="0" bIns="0" rtlCol="0" anchor="ctr"/>
          <a:lstStyle/>
          <a:p>
            <a:pPr indent="0" marL="0">
              <a:buNone/>
            </a:pPr>
            <a:r>
              <a:rPr lang="en-US" sz="1600" dirty="0">
                <a:solidFill>
                  <a:schemeClr val="tx1"/>
                </a:solidFill>
              </a:rPr>
              <a:t>Fulfilment and notifications; reconcilers catch any stragglers</a:t>
            </a:r>
            <a:endParaRPr lang="en-US" sz="1600" dirty="0"/>
          </a:p>
        </p:txBody>
      </p:sp>
      <p:sp>
        <p:nvSpPr>
          <p:cNvPr id="27" name="text_227"/>
          <p:cNvSpPr txBox="1"/>
          <p:nvPr/>
        </p:nvSpPr>
        <p:spPr>
          <a:xfrm>
            <a:off x="548640" y="5806440"/>
            <a:ext cx="11064240" cy="457200"/>
          </a:xfrm>
          <a:prstGeom prst="rect">
            <a:avLst/>
          </a:prstGeom>
          <a:noFill/>
          <a:ln/>
        </p:spPr>
        <p:txBody>
          <a:bodyPr wrap="square" lIns="0" tIns="0" rIns="0" bIns="0" rtlCol="0" anchor="t"/>
          <a:lstStyle/>
          <a:p>
            <a:pPr indent="0" marL="0">
              <a:buNone/>
            </a:pPr>
            <a:r>
              <a:rPr lang="en-US" sz="1600" b="1" dirty="0">
                <a:solidFill>
                  <a:schemeClr val="accent3"/>
                </a:solidFill>
              </a:rPr>
              <a:t>Result: exactly 100 SOLD · 0 negative stock · 0 double charges · every paid order CONFIRMED or refunded</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463040"/>
          </a:xfrm>
          <a:prstGeom prst="rect">
            <a:avLst/>
          </a:prstGeom>
          <a:noFill/>
          <a:ln/>
        </p:spPr>
        <p:txBody>
          <a:bodyPr wrap="square" lIns="0" tIns="0" rIns="0" bIns="0" rtlCol="0" anchor="ctr"/>
          <a:lstStyle/>
          <a:p>
            <a:pPr algn="l" indent="0" marL="0">
              <a:buNone/>
            </a:pPr>
            <a:r>
              <a:rPr lang="en-US" sz="4800" b="1" dirty="0">
                <a:solidFill>
                  <a:schemeClr val="bg1"/>
                </a:solidFill>
              </a:rPr>
              <a:t>Trade-offs we chose on purpose</a:t>
            </a:r>
            <a:endParaRPr lang="en-US" sz="4800" dirty="0"/>
          </a:p>
        </p:txBody>
      </p:sp>
      <p:sp>
        <p:nvSpPr>
          <p:cNvPr id="3" name="Text 0"/>
          <p:cNvSpPr/>
          <p:nvPr>
            <p:ph idx="101" type="body" hasCustomPrompt="1"/>
          </p:nvPr>
        </p:nvSpPr>
        <p:spPr>
          <a:xfrm>
            <a:off x="731520" y="3383280"/>
            <a:ext cx="10698480" cy="1097280"/>
          </a:xfrm>
          <a:prstGeom prst="rect">
            <a:avLst/>
          </a:prstGeom>
          <a:noFill/>
          <a:ln/>
        </p:spPr>
        <p:txBody>
          <a:bodyPr wrap="square" lIns="0" tIns="0" rIns="0" bIns="0" rtlCol="0" anchor="t"/>
          <a:lstStyle/>
          <a:p>
            <a:pPr algn="l" indent="0" marL="0">
              <a:buNone/>
            </a:pPr>
            <a:r>
              <a:rPr lang="en-US" sz="2200" dirty="0">
                <a:solidFill>
                  <a:schemeClr val="accent1"/>
                </a:solidFill>
              </a:rPr>
              <a:t>Consistency over availability for inventory  ·  hybrid sync/async  ·  SQL for truth, Redis for speed</a:t>
            </a:r>
            <a:endParaRPr lang="en-US" sz="2200" dirty="0"/>
          </a:p>
        </p:txBody>
      </p:sp>
      <p:sp>
        <p:nvSpPr>
          <p:cNvPr id="4" name="text_228"/>
          <p:cNvSpPr txBox="1"/>
          <p:nvPr/>
        </p:nvSpPr>
        <p:spPr>
          <a:xfrm>
            <a:off x="731520" y="4937760"/>
            <a:ext cx="10698480" cy="731520"/>
          </a:xfrm>
          <a:prstGeom prst="rect">
            <a:avLst/>
          </a:prstGeom>
          <a:noFill/>
          <a:ln/>
        </p:spPr>
        <p:txBody>
          <a:bodyPr wrap="square" lIns="0" tIns="0" rIns="0" bIns="0" rtlCol="0" anchor="t"/>
          <a:lstStyle/>
          <a:p>
            <a:pPr indent="0" marL="0">
              <a:buNone/>
            </a:pPr>
            <a:r>
              <a:rPr lang="en-US" sz="3200" b="1" dirty="0">
                <a:solidFill>
                  <a:schemeClr val="bg1"/>
                </a:solidFill>
              </a:rPr>
              <a:t>Thank you. Questions?</a:t>
            </a:r>
            <a:endParaRPr lang="en-US" sz="3200" dirty="0"/>
          </a:p>
        </p:txBody>
      </p:sp>
    </p:spTree>
  </p:cSld>
  <p:clrMapOvr>
    <a:masterClrMapping/>
  </p:clrMapOvr>
</p:sld>
</file>

<file path=ppt/theme/theme1.xml><?xml version="1.0" encoding="utf-8"?>
<a:theme xmlns:a="http://schemas.openxmlformats.org/drawingml/2006/main" name="Salestorm">
  <a:themeElements>
    <a:clrScheme name="Salestorm">
      <a:dk1>
        <a:srgbClr val="1A1A2E"/>
      </a:dk1>
      <a:lt1>
        <a:srgbClr val="FFFFFF"/>
      </a:lt1>
      <a:dk2>
        <a:srgbClr val="16213E"/>
      </a:dk2>
      <a:lt2>
        <a:srgbClr val="EEF1F8"/>
      </a:lt2>
      <a:accent1>
        <a:srgbClr val="FFB000"/>
      </a:accent1>
      <a:accent2>
        <a:srgbClr val="E63946"/>
      </a:accent2>
      <a:accent3>
        <a:srgbClr val="2A9D8F"/>
      </a:accent3>
      <a:accent4>
        <a:srgbClr val="457B9D"/>
      </a:accent4>
      <a:accent5>
        <a:srgbClr val="8D99AE"/>
      </a:accent5>
      <a:accent6>
        <a:srgbClr val="F4A261"/>
      </a:accent6>
      <a:hlink>
        <a:srgbClr val="457B9D"/>
      </a:hlink>
      <a:folHlink>
        <a:srgbClr val="8D99AE"/>
      </a:folHlink>
    </a:clrScheme>
    <a:fontScheme name="Salestorm">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SALESTORM – High-Scale Flash Sale System Design</dc:title>
  <dc:subject>PptxGenJS Presentation</dc:subject>
  <dc:creator>SALESTORM Team</dc:creator>
  <cp:lastModifiedBy>SALESTORM Team</cp:lastModifiedBy>
  <cp:revision>1</cp:revision>
  <dcterms:created xsi:type="dcterms:W3CDTF">2026-10-05T04:55:14Z</dcterms:created>
  <dcterms:modified xsi:type="dcterms:W3CDTF">2026-10-05T04:55:14Z</dcterms:modified>
</cp:coreProperties>
</file>